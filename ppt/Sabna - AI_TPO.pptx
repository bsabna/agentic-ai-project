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75" r:id="rId5"/>
    <p:sldId id="276" r:id="rId6"/>
    <p:sldId id="277" r:id="rId7"/>
    <p:sldId id="278" r:id="rId8"/>
    <p:sldId id="279" r:id="rId9"/>
    <p:sldId id="280" r:id="rId10"/>
    <p:sldId id="285" r:id="rId11"/>
    <p:sldId id="283" r:id="rId12"/>
    <p:sldId id="282" r:id="rId13"/>
    <p:sldId id="281" r:id="rId14"/>
    <p:sldId id="284" r:id="rId15"/>
    <p:sldId id="286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4" autoAdjust="0"/>
  </p:normalViewPr>
  <p:slideViewPr>
    <p:cSldViewPr snapToGrid="0">
      <p:cViewPr>
        <p:scale>
          <a:sx n="47" d="100"/>
          <a:sy n="47" d="100"/>
        </p:scale>
        <p:origin x="101" y="8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gentic-ai-project-ktklrffhtw2johhsdkjbhh.streamlit.app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urancethoughtleadership.com/life-health/ai-tools-detect-healthcare-provider-fraud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2084" y="0"/>
            <a:ext cx="9672000" cy="6857999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800" dirty="0"/>
              <a:t>Clinical Decision Making</a:t>
            </a:r>
            <a:br>
              <a:rPr lang="en-US" sz="2800" dirty="0"/>
            </a:br>
            <a:r>
              <a:rPr lang="en-US" sz="2800" dirty="0"/>
              <a:t>&amp; Pattern Recognition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9" y="4276447"/>
            <a:ext cx="3492000" cy="620016"/>
          </a:xfrm>
          <a:gradFill>
            <a:gsLst>
              <a:gs pos="800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r>
              <a:rPr lang="en-US" dirty="0"/>
              <a:t>Strategic Report | July 2026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687084" y="3441536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6CB0-4ED9-43FA-81D5-6D322579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024" y="4896463"/>
            <a:ext cx="2885950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Brand Label"/>
          <p:cNvSpPr/>
          <p:nvPr/>
        </p:nvSpPr>
        <p:spPr>
          <a:xfrm>
            <a:off x="685800" y="457200"/>
            <a:ext cx="3000000" cy="365760"/>
          </a:xfrm>
        </p:spPr>
        <p:txBody>
          <a:bodyPr wrap="square" lIns="0" tIns="0" rIns="0" bIns="0"/>
          <a:lstStyle/>
          <a:p>
            <a:r>
              <a:rPr lang="en-US" sz="1800" b="1" spc="300" dirty="0">
                <a:solidFill>
                  <a:schemeClr val="bg1"/>
                </a:solidFill>
              </a:rPr>
              <a:t>COTIVITI</a:t>
            </a:r>
          </a:p>
        </p:txBody>
      </p:sp>
      <p:sp>
        <p:nvSpPr>
          <p:cNvPr id="31" name="Tagline"/>
          <p:cNvSpPr/>
          <p:nvPr/>
        </p:nvSpPr>
        <p:spPr>
          <a:xfrm>
            <a:off x="1500000" y="5000000"/>
            <a:ext cx="9192000" cy="950000"/>
          </a:xfr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in Health Care</a:t>
            </a:r>
          </a:p>
          <a:p>
            <a:pPr algn="ctr"/>
            <a:r>
              <a:rPr lang="en-US" sz="1200" i="1" dirty="0">
                <a:solidFill>
                  <a:schemeClr val="bg1">
                    <a:alpha val="85000"/>
                  </a:schemeClr>
                </a:solidFill>
              </a:rPr>
              <a:t>Chain Reasoning · Agentic AI · Classification · Prediction · Inference · Clustering · Time-Series Anomaly Detection</a:t>
            </a:r>
          </a:p>
          <a:p>
            <a:pPr algn="ctr"/>
            <a:r>
              <a:rPr lang="en-US" sz="1200" i="1" dirty="0">
                <a:solidFill>
                  <a:schemeClr val="bg1">
                    <a:alpha val="85000"/>
                  </a:schemeClr>
                </a:solidFill>
              </a:rPr>
              <a:t>for Treatment, Payment &amp; Operations (TPO)</a:t>
            </a:r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457200"/>
            <a:ext cx="800000" cy="365760"/>
          </a:xfrm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685800" y="797200"/>
            <a:ext cx="10820400" cy="600000"/>
          </a:xfrm>
        </p:spPr>
        <p:txBody>
          <a:bodyPr wrap="square" lIns="0" tIns="0" rIns="0" bIns="0"/>
          <a:lstStyle/>
          <a:p>
            <a:r>
              <a:rPr lang="en-US" sz="3200" b="1" dirty="0">
                <a:solidFill>
                  <a:srgbClr val="00292E"/>
                </a:solidFill>
              </a:rPr>
              <a:t>Agenda</a:t>
            </a:r>
          </a:p>
        </p:txBody>
      </p:sp>
      <p:sp>
        <p:nvSpPr>
          <p:cNvPr id="10" name="Card10bg"/>
          <p:cNvSpPr/>
          <p:nvPr/>
        </p:nvSpPr>
        <p:spPr>
          <a:xfrm>
            <a:off x="685800" y="1750000"/>
            <a:ext cx="3620000" cy="17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10num"/>
          <p:cNvSpPr/>
          <p:nvPr/>
        </p:nvSpPr>
        <p:spPr>
          <a:xfrm>
            <a:off x="914400" y="1978600"/>
            <a:ext cx="460000" cy="460000"/>
          </a:xfrm>
          <a:prstGeom prst="ellipse">
            <a:avLst/>
          </a:prstGeom>
          <a:solidFill>
            <a:srgbClr val="1070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Card10txt"/>
          <p:cNvSpPr/>
          <p:nvPr/>
        </p:nvSpPr>
        <p:spPr>
          <a:xfrm>
            <a:off x="914400" y="2530040"/>
            <a:ext cx="3162800" cy="74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00292E"/>
                </a:solidFill>
              </a:rPr>
              <a:t>Concept &amp; Technology Landscape</a:t>
            </a:r>
          </a:p>
          <a:p>
            <a:r>
              <a:rPr lang="en-US" sz="1400" dirty="0">
                <a:solidFill>
                  <a:srgbClr val="4A5C60"/>
                </a:solidFill>
              </a:rPr>
              <a:t>Defining the 7 core AI techniques across TPO</a:t>
            </a:r>
          </a:p>
        </p:txBody>
      </p:sp>
      <p:sp>
        <p:nvSpPr>
          <p:cNvPr id="20" name="Card20bg"/>
          <p:cNvSpPr/>
          <p:nvPr/>
        </p:nvSpPr>
        <p:spPr>
          <a:xfrm>
            <a:off x="4605800" y="1750000"/>
            <a:ext cx="3620000" cy="17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20num"/>
          <p:cNvSpPr/>
          <p:nvPr/>
        </p:nvSpPr>
        <p:spPr>
          <a:xfrm>
            <a:off x="4834400" y="1978600"/>
            <a:ext cx="460000" cy="460000"/>
          </a:xfrm>
          <a:prstGeom prst="ellipse">
            <a:avLst/>
          </a:prstGeom>
          <a:solidFill>
            <a:srgbClr val="1070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Card20txt"/>
          <p:cNvSpPr/>
          <p:nvPr/>
        </p:nvSpPr>
        <p:spPr>
          <a:xfrm>
            <a:off x="4834400" y="2530040"/>
            <a:ext cx="3162800" cy="74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00292E"/>
                </a:solidFill>
              </a:rPr>
              <a:t>Industry Trends</a:t>
            </a:r>
          </a:p>
          <a:p>
            <a:r>
              <a:rPr lang="en-US" sz="1400" dirty="0">
                <a:solidFill>
                  <a:srgbClr val="4A5C60"/>
                </a:solidFill>
              </a:rPr>
              <a:t>Market growth, regulatory mandates, EHR-native AI</a:t>
            </a:r>
          </a:p>
        </p:txBody>
      </p:sp>
      <p:sp>
        <p:nvSpPr>
          <p:cNvPr id="30" name="Card30bg"/>
          <p:cNvSpPr/>
          <p:nvPr/>
        </p:nvSpPr>
        <p:spPr>
          <a:xfrm>
            <a:off x="8525800" y="1750000"/>
            <a:ext cx="3620000" cy="17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30num"/>
          <p:cNvSpPr/>
          <p:nvPr/>
        </p:nvSpPr>
        <p:spPr>
          <a:xfrm>
            <a:off x="8754400" y="1978600"/>
            <a:ext cx="460000" cy="460000"/>
          </a:xfrm>
          <a:prstGeom prst="ellipse">
            <a:avLst/>
          </a:prstGeom>
          <a:solidFill>
            <a:srgbClr val="1070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2" name="Card30txt"/>
          <p:cNvSpPr/>
          <p:nvPr/>
        </p:nvSpPr>
        <p:spPr>
          <a:xfrm>
            <a:off x="8754400" y="2530040"/>
            <a:ext cx="3162800" cy="74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00292E"/>
                </a:solidFill>
              </a:rPr>
              <a:t>Opportunities &amp; Threats</a:t>
            </a:r>
          </a:p>
          <a:p>
            <a:r>
              <a:rPr lang="en-US" sz="1400" dirty="0">
                <a:solidFill>
                  <a:srgbClr val="4A5C60"/>
                </a:solidFill>
              </a:rPr>
              <a:t>Where Cotiviti wins—and what to watch</a:t>
            </a:r>
          </a:p>
        </p:txBody>
      </p:sp>
      <p:sp>
        <p:nvSpPr>
          <p:cNvPr id="40" name="Card40bg"/>
          <p:cNvSpPr/>
          <p:nvPr/>
        </p:nvSpPr>
        <p:spPr>
          <a:xfrm>
            <a:off x="685800" y="3800000"/>
            <a:ext cx="3620000" cy="17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Card40num"/>
          <p:cNvSpPr/>
          <p:nvPr/>
        </p:nvSpPr>
        <p:spPr>
          <a:xfrm>
            <a:off x="914400" y="4028600"/>
            <a:ext cx="460000" cy="460000"/>
          </a:xfrm>
          <a:prstGeom prst="ellipse">
            <a:avLst/>
          </a:prstGeom>
          <a:solidFill>
            <a:srgbClr val="1070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2" name="Card40txt"/>
          <p:cNvSpPr/>
          <p:nvPr/>
        </p:nvSpPr>
        <p:spPr>
          <a:xfrm>
            <a:off x="914400" y="4580040"/>
            <a:ext cx="3162800" cy="74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00292E"/>
                </a:solidFill>
              </a:rPr>
              <a:t>Strategic Recommendations</a:t>
            </a:r>
          </a:p>
          <a:p>
            <a:r>
              <a:rPr lang="en-US" sz="1400" dirty="0">
                <a:solidFill>
                  <a:srgbClr val="4A5C60"/>
                </a:solidFill>
              </a:rPr>
              <a:t>Three investment options and our recommendation</a:t>
            </a:r>
          </a:p>
        </p:txBody>
      </p:sp>
      <p:sp>
        <p:nvSpPr>
          <p:cNvPr id="50" name="Card50bg"/>
          <p:cNvSpPr/>
          <p:nvPr/>
        </p:nvSpPr>
        <p:spPr>
          <a:xfrm>
            <a:off x="4605800" y="3800000"/>
            <a:ext cx="3620000" cy="17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ard50num"/>
          <p:cNvSpPr/>
          <p:nvPr/>
        </p:nvSpPr>
        <p:spPr>
          <a:xfrm>
            <a:off x="4834400" y="4028600"/>
            <a:ext cx="460000" cy="460000"/>
          </a:xfrm>
          <a:prstGeom prst="ellipse">
            <a:avLst/>
          </a:prstGeom>
          <a:solidFill>
            <a:srgbClr val="1070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2" name="Card50txt"/>
          <p:cNvSpPr/>
          <p:nvPr/>
        </p:nvSpPr>
        <p:spPr>
          <a:xfrm>
            <a:off x="4834400" y="4580040"/>
            <a:ext cx="3162800" cy="74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00292E"/>
                </a:solidFill>
              </a:rPr>
              <a:t>POC Demonstration</a:t>
            </a:r>
          </a:p>
          <a:p>
            <a:r>
              <a:rPr lang="en-US" sz="1400" dirty="0">
                <a:solidFill>
                  <a:srgbClr val="4A5C60"/>
                </a:solidFill>
              </a:rPr>
              <a:t>Live multi-agent claims review system walkthrough</a:t>
            </a:r>
          </a:p>
        </p:txBody>
      </p:sp>
      <p:sp>
        <p:nvSpPr>
          <p:cNvPr id="60" name="Card60bg"/>
          <p:cNvSpPr/>
          <p:nvPr/>
        </p:nvSpPr>
        <p:spPr>
          <a:xfrm>
            <a:off x="8525800" y="3800000"/>
            <a:ext cx="3620000" cy="17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Card60num"/>
          <p:cNvSpPr/>
          <p:nvPr/>
        </p:nvSpPr>
        <p:spPr>
          <a:xfrm>
            <a:off x="8754400" y="4028600"/>
            <a:ext cx="460000" cy="460000"/>
          </a:xfrm>
          <a:prstGeom prst="ellipse">
            <a:avLst/>
          </a:prstGeom>
          <a:solidFill>
            <a:srgbClr val="1070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2" name="Card60txt"/>
          <p:cNvSpPr/>
          <p:nvPr/>
        </p:nvSpPr>
        <p:spPr>
          <a:xfrm>
            <a:off x="8754400" y="4580040"/>
            <a:ext cx="3162800" cy="74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b="1" dirty="0">
                <a:solidFill>
                  <a:srgbClr val="00292E"/>
                </a:solidFill>
              </a:rPr>
              <a:t>Appendix &amp; Bibliography</a:t>
            </a:r>
          </a:p>
          <a:p>
            <a:r>
              <a:rPr lang="en-US" sz="1400" dirty="0">
                <a:solidFill>
                  <a:srgbClr val="4A5C60"/>
                </a:solidFill>
              </a:rPr>
              <a:t>Sources, data, and architecture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365760"/>
            <a:ext cx="800000" cy="365760"/>
          </a:xfrm>
        </p:spPr>
        <p:txBody>
          <a:bodyPr wrap="square" lIns="0" tIns="0" rIns="0" bIns="0"/>
          <a:lstStyle/>
          <a:p>
            <a:r>
              <a:rPr lang="en-US" sz="1400" b="1" dirty="0">
                <a:solidFill>
                  <a:srgbClr val="107082"/>
                </a:solidFill>
              </a:rPr>
              <a:t>01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05760"/>
            <a:ext cx="10820400" cy="600000"/>
          </a:xfrm>
        </p:spPr>
        <p:txBody>
          <a:bodyPr wrap="square" lIns="0" tIns="0" rIns="0" bIns="0"/>
          <a:lstStyle/>
          <a:p>
            <a:r>
              <a:rPr lang="en-US" sz="3200" b="1" dirty="0">
                <a:solidFill>
                  <a:srgbClr val="00292E"/>
                </a:solidFill>
              </a:rPr>
              <a:t>The 7 Core AI Techniques</a:t>
            </a:r>
          </a:p>
        </p:txBody>
      </p:sp>
      <p:sp>
        <p:nvSpPr>
          <p:cNvPr id="10" name="Card10bg"/>
          <p:cNvSpPr/>
          <p:nvPr/>
        </p:nvSpPr>
        <p:spPr>
          <a:xfrm>
            <a:off x="685800" y="1550000"/>
            <a:ext cx="2743200" cy="19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10num"/>
          <p:cNvSpPr/>
          <p:nvPr/>
        </p:nvSpPr>
        <p:spPr>
          <a:xfrm>
            <a:off x="914400" y="1778600"/>
            <a:ext cx="430000" cy="430000"/>
          </a:xfrm>
          <a:prstGeom prst="ellipse">
            <a:avLst/>
          </a:prstGeom>
          <a:solidFill>
            <a:srgbClr val="EC721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ard10txt"/>
          <p:cNvSpPr/>
          <p:nvPr/>
        </p:nvSpPr>
        <p:spPr>
          <a:xfrm>
            <a:off x="914400" y="2300040"/>
            <a:ext cx="2286000" cy="971360"/>
          </a:xfrm>
        </p:spPr>
        <p:txBody>
          <a:bodyPr wrap="square" lIns="0" tIns="0" rIns="0" bIns="0" anchor="t">
            <a:noAutofit/>
          </a:bodyPr>
          <a:lstStyle/>
          <a:p>
            <a:r>
              <a:rPr lang="en-US" b="1" dirty="0">
                <a:solidFill>
                  <a:srgbClr val="00292E"/>
                </a:solidFill>
              </a:rPr>
              <a:t>Chain Reasoning</a:t>
            </a:r>
          </a:p>
          <a:p>
            <a:r>
              <a:rPr lang="en-US" dirty="0">
                <a:solidFill>
                  <a:srgbClr val="4A5C60"/>
                </a:solidFill>
              </a:rPr>
              <a:t>Step-by-step LLM logic for explainable decisions</a:t>
            </a:r>
          </a:p>
        </p:txBody>
      </p:sp>
      <p:sp>
        <p:nvSpPr>
          <p:cNvPr id="20" name="Card20bg"/>
          <p:cNvSpPr/>
          <p:nvPr/>
        </p:nvSpPr>
        <p:spPr>
          <a:xfrm>
            <a:off x="3649000" y="1550000"/>
            <a:ext cx="2743200" cy="19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20num"/>
          <p:cNvSpPr/>
          <p:nvPr/>
        </p:nvSpPr>
        <p:spPr>
          <a:xfrm>
            <a:off x="3877600" y="1778600"/>
            <a:ext cx="430000" cy="430000"/>
          </a:xfrm>
          <a:prstGeom prst="ellipse">
            <a:avLst/>
          </a:prstGeom>
          <a:solidFill>
            <a:srgbClr val="EC721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Card20txt"/>
          <p:cNvSpPr/>
          <p:nvPr/>
        </p:nvSpPr>
        <p:spPr>
          <a:xfrm>
            <a:off x="3877600" y="2300040"/>
            <a:ext cx="2286000" cy="97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b="1" dirty="0">
                <a:solidFill>
                  <a:srgbClr val="00292E"/>
                </a:solidFill>
              </a:rPr>
              <a:t>Agentic AI</a:t>
            </a:r>
          </a:p>
          <a:p>
            <a:r>
              <a:rPr lang="en-US" dirty="0">
                <a:solidFill>
                  <a:srgbClr val="4A5C60"/>
                </a:solidFill>
              </a:rPr>
              <a:t>Autonomous multi-agent pipelines</a:t>
            </a:r>
          </a:p>
        </p:txBody>
      </p:sp>
      <p:sp>
        <p:nvSpPr>
          <p:cNvPr id="30" name="Card30bg"/>
          <p:cNvSpPr/>
          <p:nvPr/>
        </p:nvSpPr>
        <p:spPr>
          <a:xfrm>
            <a:off x="6612200" y="1550000"/>
            <a:ext cx="2743200" cy="19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Card30num"/>
          <p:cNvSpPr/>
          <p:nvPr/>
        </p:nvSpPr>
        <p:spPr>
          <a:xfrm>
            <a:off x="6840800" y="1778600"/>
            <a:ext cx="430000" cy="430000"/>
          </a:xfrm>
          <a:prstGeom prst="ellipse">
            <a:avLst/>
          </a:prstGeom>
          <a:solidFill>
            <a:srgbClr val="EC721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Card30txt"/>
          <p:cNvSpPr/>
          <p:nvPr/>
        </p:nvSpPr>
        <p:spPr>
          <a:xfrm>
            <a:off x="6840800" y="2300040"/>
            <a:ext cx="2286000" cy="97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b="1" dirty="0">
                <a:solidFill>
                  <a:srgbClr val="00292E"/>
                </a:solidFill>
              </a:rPr>
              <a:t>Classification</a:t>
            </a:r>
          </a:p>
          <a:p>
            <a:r>
              <a:rPr lang="en-US" dirty="0">
                <a:solidFill>
                  <a:srgbClr val="4A5C60"/>
                </a:solidFill>
              </a:rPr>
              <a:t>Approve / deny / escalate</a:t>
            </a:r>
          </a:p>
        </p:txBody>
      </p:sp>
      <p:sp>
        <p:nvSpPr>
          <p:cNvPr id="40" name="Card40bg"/>
          <p:cNvSpPr/>
          <p:nvPr/>
        </p:nvSpPr>
        <p:spPr>
          <a:xfrm>
            <a:off x="9575400" y="1550000"/>
            <a:ext cx="2433098" cy="19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ard40num"/>
          <p:cNvSpPr/>
          <p:nvPr/>
        </p:nvSpPr>
        <p:spPr>
          <a:xfrm>
            <a:off x="9804000" y="1778600"/>
            <a:ext cx="430000" cy="430000"/>
          </a:xfrm>
          <a:prstGeom prst="ellipse">
            <a:avLst/>
          </a:prstGeom>
          <a:solidFill>
            <a:srgbClr val="EC721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Card40txt"/>
          <p:cNvSpPr/>
          <p:nvPr/>
        </p:nvSpPr>
        <p:spPr>
          <a:xfrm>
            <a:off x="9804000" y="2300040"/>
            <a:ext cx="2286000" cy="97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b="1" dirty="0">
                <a:solidFill>
                  <a:srgbClr val="00292E"/>
                </a:solidFill>
              </a:rPr>
              <a:t>Prediction</a:t>
            </a:r>
          </a:p>
          <a:p>
            <a:r>
              <a:rPr lang="en-US" dirty="0">
                <a:solidFill>
                  <a:srgbClr val="4A5C60"/>
                </a:solidFill>
              </a:rPr>
              <a:t>Cost, readmission &amp; fraud forecasting</a:t>
            </a:r>
          </a:p>
        </p:txBody>
      </p:sp>
      <p:sp>
        <p:nvSpPr>
          <p:cNvPr id="50" name="Card50bg"/>
          <p:cNvSpPr/>
          <p:nvPr/>
        </p:nvSpPr>
        <p:spPr>
          <a:xfrm>
            <a:off x="1761200" y="3750000"/>
            <a:ext cx="2743200" cy="19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Card50num"/>
          <p:cNvSpPr/>
          <p:nvPr/>
        </p:nvSpPr>
        <p:spPr>
          <a:xfrm>
            <a:off x="1989800" y="3978600"/>
            <a:ext cx="430000" cy="430000"/>
          </a:xfrm>
          <a:prstGeom prst="ellipse">
            <a:avLst/>
          </a:prstGeom>
          <a:solidFill>
            <a:srgbClr val="EC721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2" name="Card50txt"/>
          <p:cNvSpPr/>
          <p:nvPr/>
        </p:nvSpPr>
        <p:spPr>
          <a:xfrm>
            <a:off x="1989800" y="4500040"/>
            <a:ext cx="2286000" cy="97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b="1" dirty="0">
                <a:solidFill>
                  <a:srgbClr val="00292E"/>
                </a:solidFill>
              </a:rPr>
              <a:t>Inference</a:t>
            </a:r>
          </a:p>
          <a:p>
            <a:r>
              <a:rPr lang="en-US" dirty="0">
                <a:solidFill>
                  <a:srgbClr val="4A5C60"/>
                </a:solidFill>
              </a:rPr>
              <a:t>Risk adjustment &amp; gap detection</a:t>
            </a:r>
          </a:p>
        </p:txBody>
      </p:sp>
      <p:sp>
        <p:nvSpPr>
          <p:cNvPr id="60" name="Card60bg"/>
          <p:cNvSpPr/>
          <p:nvPr/>
        </p:nvSpPr>
        <p:spPr>
          <a:xfrm>
            <a:off x="4724400" y="3750000"/>
            <a:ext cx="2743200" cy="19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Card60num"/>
          <p:cNvSpPr/>
          <p:nvPr/>
        </p:nvSpPr>
        <p:spPr>
          <a:xfrm>
            <a:off x="4953000" y="3978600"/>
            <a:ext cx="430000" cy="430000"/>
          </a:xfrm>
          <a:prstGeom prst="ellipse">
            <a:avLst/>
          </a:prstGeom>
          <a:solidFill>
            <a:srgbClr val="EC721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Card60txt"/>
          <p:cNvSpPr/>
          <p:nvPr/>
        </p:nvSpPr>
        <p:spPr>
          <a:xfrm>
            <a:off x="4953000" y="4500040"/>
            <a:ext cx="2286000" cy="97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b="1" dirty="0">
                <a:solidFill>
                  <a:srgbClr val="00292E"/>
                </a:solidFill>
              </a:rPr>
              <a:t>Clustering</a:t>
            </a:r>
          </a:p>
          <a:p>
            <a:r>
              <a:rPr lang="en-US" dirty="0">
                <a:solidFill>
                  <a:srgbClr val="4A5C60"/>
                </a:solidFill>
              </a:rPr>
              <a:t>Patient cohorts &amp; provider profiling</a:t>
            </a:r>
          </a:p>
        </p:txBody>
      </p:sp>
      <p:sp>
        <p:nvSpPr>
          <p:cNvPr id="70" name="Card70bg"/>
          <p:cNvSpPr/>
          <p:nvPr/>
        </p:nvSpPr>
        <p:spPr>
          <a:xfrm>
            <a:off x="7687600" y="3750000"/>
            <a:ext cx="2743200" cy="1950000"/>
          </a:xfrm>
          <a:prstGeom prst="roundRect">
            <a:avLst>
              <a:gd name="adj" fmla="val 4500"/>
            </a:avLst>
          </a:prstGeom>
          <a:solidFill>
            <a:srgbClr val="F7FAFA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Card70num"/>
          <p:cNvSpPr/>
          <p:nvPr/>
        </p:nvSpPr>
        <p:spPr>
          <a:xfrm>
            <a:off x="7916200" y="3978600"/>
            <a:ext cx="430000" cy="430000"/>
          </a:xfrm>
          <a:prstGeom prst="ellipse">
            <a:avLst/>
          </a:prstGeom>
          <a:solidFill>
            <a:srgbClr val="EC721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2" name="Card70txt"/>
          <p:cNvSpPr/>
          <p:nvPr/>
        </p:nvSpPr>
        <p:spPr>
          <a:xfrm>
            <a:off x="7916200" y="4500040"/>
            <a:ext cx="2286000" cy="971360"/>
          </a:xfrm>
        </p:spPr>
        <p:txBody>
          <a:bodyPr wrap="square" lIns="0" tIns="0" rIns="0" bIns="0" anchor="t">
            <a:noAutofit/>
          </a:bodyPr>
          <a:lstStyle/>
          <a:p>
            <a:r>
              <a:rPr lang="en-US" b="1" dirty="0">
                <a:solidFill>
                  <a:srgbClr val="00292E"/>
                </a:solidFill>
              </a:rPr>
              <a:t>Time-Series Anomaly</a:t>
            </a:r>
          </a:p>
          <a:p>
            <a:r>
              <a:rPr lang="en-US" dirty="0">
                <a:solidFill>
                  <a:srgbClr val="4A5C60"/>
                </a:solidFill>
              </a:rPr>
              <a:t>Billing spikes &amp; duplicate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365760"/>
            <a:ext cx="800000" cy="365760"/>
          </a:xfrm>
        </p:spPr>
        <p:txBody>
          <a:bodyPr wrap="square" lIns="0" tIns="0" rIns="0" bIns="0"/>
          <a:lstStyle/>
          <a:p>
            <a:r>
              <a:rPr lang="en-US" sz="1400" b="1" dirty="0">
                <a:solidFill>
                  <a:srgbClr val="107082"/>
                </a:solidFill>
              </a:rPr>
              <a:t>02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00000"/>
            <a:ext cx="10820400" cy="600000"/>
          </a:xfrm>
        </p:spPr>
        <p:txBody>
          <a:bodyPr wrap="square" lIns="0" tIns="0" rIns="0" bIns="0"/>
          <a:lstStyle/>
          <a:p>
            <a:r>
              <a:rPr lang="en-US" sz="3200" b="1" dirty="0">
                <a:solidFill>
                  <a:srgbClr val="00292E"/>
                </a:solidFill>
              </a:rPr>
              <a:t>TPO Application Matrix</a:t>
            </a:r>
          </a:p>
        </p:txBody>
      </p:sp>
      <p:graphicFrame>
        <p:nvGraphicFramePr>
          <p:cNvPr id="200" name="TPO Matrix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657165"/>
              </p:ext>
            </p:extLst>
          </p:nvPr>
        </p:nvGraphicFramePr>
        <p:xfrm>
          <a:off x="224400" y="1650000"/>
          <a:ext cx="11743200" cy="4750000"/>
        </p:xfrm>
        <a:graphic>
          <a:graphicData uri="http://schemas.openxmlformats.org/drawingml/2006/table">
            <a:tbl>
              <a:tblPr first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AI Technique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54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Treatment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54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Payment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54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Operations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54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Diagnosis triage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Claim approve / deny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Case routing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Prediction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Readmission risk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Cost forecasting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Staffing demand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Inference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Risk adjustment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Underpayment gaps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Capacity planning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Clustering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Patient cohorts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Provider profiling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Network optimization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Time-Series Anomaly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Sepsis early warning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Duplicate detection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Utilization spikes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Chain / Agentic AI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0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Care pathway AI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Multi-agent adjudication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B1B1B"/>
                          </a:solidFill>
                        </a:rPr>
                        <a:t>Autonomous ops</a:t>
                      </a:r>
                    </a:p>
                  </a:txBody>
                  <a:tcPr marT="36576" marB="36576" anchor="ctr">
                    <a:lnL w="6350">
                      <a:solidFill>
                        <a:srgbClr val="D9E6E8"/>
                      </a:solidFill>
                    </a:lnL>
                    <a:lnR w="6350">
                      <a:solidFill>
                        <a:srgbClr val="D9E6E8"/>
                      </a:solidFill>
                    </a:lnR>
                    <a:lnT w="6350">
                      <a:solidFill>
                        <a:srgbClr val="D9E6E8"/>
                      </a:solidFill>
                    </a:lnT>
                    <a:lnB w="6350">
                      <a:solidFill>
                        <a:srgbClr val="D9E6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Num"/>
          <p:cNvSpPr/>
          <p:nvPr/>
        </p:nvSpPr>
        <p:spPr>
          <a:xfrm>
            <a:off x="11500000" y="6500000"/>
            <a:ext cx="400000" cy="300000"/>
          </a:xfrm>
        </p:spPr>
        <p:txBody>
          <a:bodyPr wrap="square" lIns="0" tIns="0" rIns="0" bIns="0"/>
          <a:lstStyle/>
          <a:p>
            <a:fld id="{EECC7194-A4D0-457B-9D3E-53681723AFF8}" type="slidenum">
              <a:rPr lang="en-US" sz="1000"/>
              <a:t>4</a:t>
            </a:fld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365760"/>
            <a:ext cx="800000" cy="365760"/>
          </a:xfrm>
        </p:spPr>
        <p:txBody>
          <a:bodyPr wrap="square" lIns="0" tIns="0" rIns="0" bIns="0"/>
          <a:lstStyle/>
          <a:p>
            <a:r>
              <a:rPr lang="en-US" sz="1400" b="1" dirty="0">
                <a:solidFill>
                  <a:srgbClr val="107082"/>
                </a:solidFill>
              </a:rPr>
              <a:t>02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05760"/>
            <a:ext cx="10820400" cy="600000"/>
          </a:xfrm>
        </p:spPr>
        <p:txBody>
          <a:bodyPr wrap="square" lIns="0" tIns="0" rIns="0" bIns="0"/>
          <a:lstStyle/>
          <a:p>
            <a:r>
              <a:rPr lang="en-US" sz="3200" b="1" dirty="0">
                <a:solidFill>
                  <a:srgbClr val="00292E"/>
                </a:solidFill>
              </a:rPr>
              <a:t>Four Critical Industry Trends</a:t>
            </a:r>
          </a:p>
        </p:txBody>
      </p:sp>
      <p:sp>
        <p:nvSpPr>
          <p:cNvPr id="10" name="Stat10bg"/>
          <p:cNvSpPr/>
          <p:nvPr/>
        </p:nvSpPr>
        <p:spPr>
          <a:xfrm>
            <a:off x="685800" y="1750000"/>
            <a:ext cx="2743200" cy="3000000"/>
          </a:xfrm>
          <a:prstGeom prst="roundRect">
            <a:avLst>
              <a:gd name="adj" fmla="val 4000"/>
            </a:avLst>
          </a:prstGeom>
          <a:solidFill>
            <a:srgbClr val="0548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tat10num"/>
          <p:cNvSpPr/>
          <p:nvPr/>
        </p:nvSpPr>
        <p:spPr>
          <a:xfrm>
            <a:off x="960120" y="2024320"/>
            <a:ext cx="2194560" cy="620000"/>
          </a:xfrm>
        </p:spPr>
        <p:txBody>
          <a:bodyPr wrap="square" lIns="0" tIns="0" rIns="0" bIns="0">
            <a:normAutofit/>
          </a:bodyPr>
          <a:lstStyle/>
          <a:p>
            <a:r>
              <a:rPr lang="en-US" sz="3600" b="1" dirty="0">
                <a:solidFill>
                  <a:srgbClr val="F99927"/>
                </a:solidFill>
              </a:rPr>
              <a:t>$102B</a:t>
            </a:r>
          </a:p>
        </p:txBody>
      </p:sp>
      <p:sp>
        <p:nvSpPr>
          <p:cNvPr id="12" name="Stat10label"/>
          <p:cNvSpPr/>
          <p:nvPr/>
        </p:nvSpPr>
        <p:spPr>
          <a:xfrm>
            <a:off x="960120" y="2704320"/>
            <a:ext cx="2194560" cy="380000"/>
          </a:xfrm>
        </p:spPr>
        <p:txBody>
          <a:bodyPr wrap="square" lIns="0" tIns="0" rIns="0" bIns="0">
            <a:norm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Clinical AI Market by 2028</a:t>
            </a:r>
          </a:p>
        </p:txBody>
      </p:sp>
      <p:sp>
        <p:nvSpPr>
          <p:cNvPr id="13" name="Stat10desc"/>
          <p:cNvSpPr/>
          <p:nvPr/>
        </p:nvSpPr>
        <p:spPr>
          <a:xfrm>
            <a:off x="960120" y="3124320"/>
            <a:ext cx="2194560" cy="135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dirty="0">
                <a:solidFill>
                  <a:srgbClr val="B9D6DA"/>
                </a:solidFill>
              </a:rPr>
              <a:t>44.9% CAGR — Epic, Google Health, and Azure AI already deploying at scale</a:t>
            </a:r>
          </a:p>
        </p:txBody>
      </p:sp>
      <p:sp>
        <p:nvSpPr>
          <p:cNvPr id="20" name="Stat20bg"/>
          <p:cNvSpPr/>
          <p:nvPr/>
        </p:nvSpPr>
        <p:spPr>
          <a:xfrm>
            <a:off x="3649000" y="1750000"/>
            <a:ext cx="2743200" cy="3000000"/>
          </a:xfrm>
          <a:prstGeom prst="roundRect">
            <a:avLst>
              <a:gd name="adj" fmla="val 4000"/>
            </a:avLst>
          </a:prstGeom>
          <a:solidFill>
            <a:srgbClr val="0548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Stat20num"/>
          <p:cNvSpPr/>
          <p:nvPr/>
        </p:nvSpPr>
        <p:spPr>
          <a:xfrm>
            <a:off x="3923320" y="2024320"/>
            <a:ext cx="2194560" cy="620000"/>
          </a:xfrm>
        </p:spPr>
        <p:txBody>
          <a:bodyPr wrap="square" lIns="0" tIns="0" rIns="0" bIns="0">
            <a:normAutofit/>
          </a:bodyPr>
          <a:lstStyle/>
          <a:p>
            <a:r>
              <a:rPr lang="en-US" sz="3600" b="1" dirty="0">
                <a:solidFill>
                  <a:srgbClr val="F99927"/>
                </a:solidFill>
              </a:rPr>
              <a:t>400M+</a:t>
            </a:r>
          </a:p>
        </p:txBody>
      </p:sp>
      <p:sp>
        <p:nvSpPr>
          <p:cNvPr id="22" name="Stat20label"/>
          <p:cNvSpPr/>
          <p:nvPr/>
        </p:nvSpPr>
        <p:spPr>
          <a:xfrm>
            <a:off x="3923320" y="2704320"/>
            <a:ext cx="2194560" cy="380000"/>
          </a:xfrm>
        </p:spPr>
        <p:txBody>
          <a:bodyPr wrap="square" lIns="0" tIns="0" rIns="0" bIns="0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Prior Auth Reviews via Agent AI</a:t>
            </a:r>
          </a:p>
        </p:txBody>
      </p:sp>
      <p:sp>
        <p:nvSpPr>
          <p:cNvPr id="23" name="Stat20desc"/>
          <p:cNvSpPr/>
          <p:nvPr/>
        </p:nvSpPr>
        <p:spPr>
          <a:xfrm>
            <a:off x="3923320" y="3282043"/>
            <a:ext cx="2194560" cy="1193637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dirty="0">
                <a:solidFill>
                  <a:srgbClr val="B9D6DA"/>
                </a:solidFill>
              </a:rPr>
              <a:t>UnitedHealth/Change Healthcare processed 400M+ reviews in 2024 with multi-agent automation</a:t>
            </a:r>
          </a:p>
        </p:txBody>
      </p:sp>
      <p:sp>
        <p:nvSpPr>
          <p:cNvPr id="30" name="Stat30bg"/>
          <p:cNvSpPr/>
          <p:nvPr/>
        </p:nvSpPr>
        <p:spPr>
          <a:xfrm>
            <a:off x="6612200" y="1750000"/>
            <a:ext cx="2743200" cy="3000000"/>
          </a:xfrm>
          <a:prstGeom prst="roundRect">
            <a:avLst>
              <a:gd name="adj" fmla="val 4000"/>
            </a:avLst>
          </a:prstGeom>
          <a:solidFill>
            <a:srgbClr val="0548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Stat30num"/>
          <p:cNvSpPr/>
          <p:nvPr/>
        </p:nvSpPr>
        <p:spPr>
          <a:xfrm>
            <a:off x="6886520" y="2024320"/>
            <a:ext cx="2194560" cy="620000"/>
          </a:xfrm>
        </p:spPr>
        <p:txBody>
          <a:bodyPr wrap="square" lIns="0" tIns="0" rIns="0" bIns="0">
            <a:normAutofit/>
          </a:bodyPr>
          <a:lstStyle/>
          <a:p>
            <a:r>
              <a:rPr lang="en-US" sz="3600" b="1" dirty="0">
                <a:solidFill>
                  <a:srgbClr val="F99927"/>
                </a:solidFill>
              </a:rPr>
              <a:t>CMS-0057</a:t>
            </a:r>
          </a:p>
        </p:txBody>
      </p:sp>
      <p:sp>
        <p:nvSpPr>
          <p:cNvPr id="32" name="Stat30label"/>
          <p:cNvSpPr/>
          <p:nvPr/>
        </p:nvSpPr>
        <p:spPr>
          <a:xfrm>
            <a:off x="6886520" y="2704320"/>
            <a:ext cx="2194560" cy="380000"/>
          </a:xfrm>
        </p:spPr>
        <p:txBody>
          <a:bodyPr wrap="square" lIns="0" tIns="0" rIns="0" bIns="0">
            <a:norm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Interoperability Final Rule</a:t>
            </a:r>
          </a:p>
        </p:txBody>
      </p:sp>
      <p:sp>
        <p:nvSpPr>
          <p:cNvPr id="33" name="Stat30desc"/>
          <p:cNvSpPr/>
          <p:nvPr/>
        </p:nvSpPr>
        <p:spPr>
          <a:xfrm>
            <a:off x="6886520" y="3124320"/>
            <a:ext cx="2194560" cy="13513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dirty="0">
                <a:solidFill>
                  <a:srgbClr val="B9D6DA"/>
                </a:solidFill>
              </a:rPr>
              <a:t>FHIR API mandates &amp; prior auth turnaround times impossible without AI automation</a:t>
            </a:r>
          </a:p>
        </p:txBody>
      </p:sp>
      <p:sp>
        <p:nvSpPr>
          <p:cNvPr id="40" name="Stat40bg"/>
          <p:cNvSpPr/>
          <p:nvPr/>
        </p:nvSpPr>
        <p:spPr>
          <a:xfrm>
            <a:off x="9575400" y="1750000"/>
            <a:ext cx="2468880" cy="3000000"/>
          </a:xfrm>
          <a:prstGeom prst="roundRect">
            <a:avLst>
              <a:gd name="adj" fmla="val 4000"/>
            </a:avLst>
          </a:prstGeom>
          <a:solidFill>
            <a:srgbClr val="0548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tat40num"/>
          <p:cNvSpPr/>
          <p:nvPr/>
        </p:nvSpPr>
        <p:spPr>
          <a:xfrm>
            <a:off x="9849720" y="2024320"/>
            <a:ext cx="2194560" cy="620000"/>
          </a:xfrm>
        </p:spPr>
        <p:txBody>
          <a:bodyPr wrap="square" lIns="0" tIns="0" rIns="0" bIns="0">
            <a:normAutofit/>
          </a:bodyPr>
          <a:lstStyle/>
          <a:p>
            <a:r>
              <a:rPr lang="en-US" sz="3600" b="1" dirty="0">
                <a:solidFill>
                  <a:srgbClr val="F99927"/>
                </a:solidFill>
              </a:rPr>
              <a:t>$1.5B</a:t>
            </a:r>
          </a:p>
        </p:txBody>
      </p:sp>
      <p:sp>
        <p:nvSpPr>
          <p:cNvPr id="42" name="Stat40label"/>
          <p:cNvSpPr/>
          <p:nvPr/>
        </p:nvSpPr>
        <p:spPr>
          <a:xfrm>
            <a:off x="9712560" y="2704320"/>
            <a:ext cx="2194560" cy="380000"/>
          </a:xfrm>
        </p:spPr>
        <p:txBody>
          <a:bodyPr wrap="square" lIns="0" tIns="0" rIns="0" bIns="0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Fraud Prevented by CMS AI (2023)</a:t>
            </a:r>
          </a:p>
        </p:txBody>
      </p:sp>
      <p:sp>
        <p:nvSpPr>
          <p:cNvPr id="43" name="Stat40desc"/>
          <p:cNvSpPr/>
          <p:nvPr/>
        </p:nvSpPr>
        <p:spPr>
          <a:xfrm>
            <a:off x="9849720" y="3282042"/>
            <a:ext cx="2194560" cy="1193637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400" dirty="0">
                <a:solidFill>
                  <a:srgbClr val="B9D6DA"/>
                </a:solidFill>
              </a:rPr>
              <a:t>CMS Fraud Prevention System suspended $1.5B in improper Medicare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365760"/>
            <a:ext cx="800000" cy="365760"/>
          </a:xfrm>
        </p:spPr>
        <p:txBody>
          <a:bodyPr wrap="square" lIns="0" tIns="0" rIns="0" bIns="0"/>
          <a:lstStyle/>
          <a:p>
            <a:r>
              <a:rPr lang="en-US" sz="1400" b="1" dirty="0">
                <a:solidFill>
                  <a:srgbClr val="107082"/>
                </a:solidFill>
              </a:rPr>
              <a:t>03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05760"/>
            <a:ext cx="10820400" cy="600000"/>
          </a:xfrm>
        </p:spPr>
        <p:txBody>
          <a:bodyPr wrap="square" lIns="0" tIns="0" rIns="0" bIns="0"/>
          <a:lstStyle/>
          <a:p>
            <a:r>
              <a:rPr lang="en-US" sz="3200" b="1" dirty="0">
                <a:solidFill>
                  <a:srgbClr val="00292E"/>
                </a:solidFill>
              </a:rPr>
              <a:t>Opportunities &amp; Threats</a:t>
            </a:r>
          </a:p>
        </p:txBody>
      </p:sp>
      <p:sp>
        <p:nvSpPr>
          <p:cNvPr id="30" name="Panel30bg"/>
          <p:cNvSpPr/>
          <p:nvPr/>
        </p:nvSpPr>
        <p:spPr>
          <a:xfrm>
            <a:off x="386000" y="1450000"/>
            <a:ext cx="5550000" cy="4550000"/>
          </a:xfrm>
          <a:prstGeom prst="roundRect">
            <a:avLst>
              <a:gd name="adj" fmla="val 3000"/>
            </a:avLst>
          </a:prstGeom>
          <a:solidFill>
            <a:srgbClr val="EAF4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Panel30head"/>
          <p:cNvSpPr/>
          <p:nvPr/>
        </p:nvSpPr>
        <p:spPr>
          <a:xfrm>
            <a:off x="751760" y="1770000"/>
            <a:ext cx="4818480" cy="450000"/>
          </a:xfrm>
        </p:spPr>
        <p:txBody>
          <a:bodyPr wrap="square" lIns="0" tIns="0" rIns="0" bIns="0"/>
          <a:lstStyle/>
          <a:p>
            <a:r>
              <a:rPr lang="en-US" sz="2000" b="1" dirty="0">
                <a:solidFill>
                  <a:srgbClr val="054854"/>
                </a:solidFill>
              </a:rPr>
              <a:t>Opportunities</a:t>
            </a:r>
          </a:p>
        </p:txBody>
      </p:sp>
      <p:sp>
        <p:nvSpPr>
          <p:cNvPr id="32" name="Panel30body"/>
          <p:cNvSpPr/>
          <p:nvPr/>
        </p:nvSpPr>
        <p:spPr>
          <a:xfrm>
            <a:off x="751760" y="2300000"/>
            <a:ext cx="4818480" cy="3450000"/>
          </a:xfrm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/>
              <a:buChar char="◆"/>
            </a:pPr>
            <a:r>
              <a:rPr lang="en-US" sz="2000" dirty="0">
                <a:solidFill>
                  <a:srgbClr val="1B3438"/>
                </a:solidFill>
              </a:rPr>
              <a:t>Unified TPO Intelligence — cross-domain data no competitor can replicate</a:t>
            </a:r>
          </a:p>
          <a:p>
            <a:pPr marL="228600" indent="-228600">
              <a:buFont typeface="Arial"/>
              <a:buChar char="◆"/>
            </a:pPr>
            <a:r>
              <a:rPr lang="en-US" sz="2000" dirty="0">
                <a:solidFill>
                  <a:srgbClr val="1B3438"/>
                </a:solidFill>
              </a:rPr>
              <a:t>Chain reasoning for explainable denials satisfying CMS audit requirements</a:t>
            </a:r>
          </a:p>
          <a:p>
            <a:pPr marL="228600" indent="-228600">
              <a:buFont typeface="Arial"/>
              <a:buChar char="◆"/>
            </a:pPr>
            <a:r>
              <a:rPr lang="en-US" sz="2000" dirty="0">
                <a:solidFill>
                  <a:srgbClr val="1B3438"/>
                </a:solidFill>
              </a:rPr>
              <a:t>Time-series monetization of longitudinal claims data as a recurring product</a:t>
            </a:r>
          </a:p>
          <a:p>
            <a:pPr marL="228600" indent="-228600">
              <a:buFont typeface="Arial"/>
              <a:buChar char="◆"/>
            </a:pPr>
            <a:r>
              <a:rPr lang="en-US" sz="2000" dirty="0">
                <a:solidFill>
                  <a:srgbClr val="1B3438"/>
                </a:solidFill>
              </a:rPr>
              <a:t>Operations AI extending Cotiviti into prospective payer management</a:t>
            </a:r>
          </a:p>
        </p:txBody>
      </p:sp>
      <p:sp>
        <p:nvSpPr>
          <p:cNvPr id="40" name="Panel40bg"/>
          <p:cNvSpPr/>
          <p:nvPr/>
        </p:nvSpPr>
        <p:spPr>
          <a:xfrm>
            <a:off x="6256000" y="1450000"/>
            <a:ext cx="5550000" cy="4550000"/>
          </a:xfrm>
          <a:prstGeom prst="roundRect">
            <a:avLst>
              <a:gd name="adj" fmla="val 3000"/>
            </a:avLst>
          </a:prstGeom>
          <a:solidFill>
            <a:srgbClr val="FDF1E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Panel40head"/>
          <p:cNvSpPr/>
          <p:nvPr/>
        </p:nvSpPr>
        <p:spPr>
          <a:xfrm>
            <a:off x="6621760" y="1770000"/>
            <a:ext cx="4818480" cy="450000"/>
          </a:xfrm>
        </p:spPr>
        <p:txBody>
          <a:bodyPr wrap="square" lIns="0" tIns="0" rIns="0" bIns="0"/>
          <a:lstStyle/>
          <a:p>
            <a:r>
              <a:rPr lang="en-US" sz="2000" b="1" dirty="0">
                <a:solidFill>
                  <a:srgbClr val="B35A0E"/>
                </a:solidFill>
              </a:rPr>
              <a:t>Threats</a:t>
            </a:r>
          </a:p>
        </p:txBody>
      </p:sp>
      <p:sp>
        <p:nvSpPr>
          <p:cNvPr id="42" name="Panel40body"/>
          <p:cNvSpPr/>
          <p:nvPr/>
        </p:nvSpPr>
        <p:spPr>
          <a:xfrm>
            <a:off x="6621760" y="2300000"/>
            <a:ext cx="4818480" cy="3450000"/>
          </a:xfrm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/>
              <a:buChar char="◆"/>
            </a:pPr>
            <a:r>
              <a:rPr lang="en-US" sz="2000" dirty="0">
                <a:solidFill>
                  <a:srgbClr val="4A3420"/>
                </a:solidFill>
              </a:rPr>
              <a:t>Model drift — distributions shift with new ICD codes &amp; post-pandemic patterns</a:t>
            </a:r>
          </a:p>
          <a:p>
            <a:pPr marL="228600" indent="-228600">
              <a:buFont typeface="Arial"/>
              <a:buChar char="◆"/>
            </a:pPr>
            <a:r>
              <a:rPr lang="en-US" sz="2000" dirty="0">
                <a:solidFill>
                  <a:srgbClr val="4A3420"/>
                </a:solidFill>
              </a:rPr>
              <a:t>Algorithmic bias encoding historical care disparities into denial decisions</a:t>
            </a:r>
          </a:p>
          <a:p>
            <a:pPr marL="228600" indent="-228600">
              <a:buFont typeface="Arial"/>
              <a:buChar char="◆"/>
            </a:pPr>
            <a:r>
              <a:rPr lang="en-US" sz="2000" dirty="0">
                <a:solidFill>
                  <a:srgbClr val="4A3420"/>
                </a:solidFill>
              </a:rPr>
              <a:t>HIPAA &amp; data sovereignty risk routing PHI through third-party LLM APIs</a:t>
            </a:r>
          </a:p>
          <a:p>
            <a:pPr marL="228600" indent="-228600">
              <a:buFont typeface="Arial"/>
              <a:buChar char="◆"/>
            </a:pPr>
            <a:r>
              <a:rPr lang="en-US" sz="2000" dirty="0">
                <a:solidFill>
                  <a:srgbClr val="4A3420"/>
                </a:solidFill>
              </a:rPr>
              <a:t>EHR-native AI (Epic) creating upstream data gravity before claims are filed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81CF-8276-19CE-DCF3-F5B770FC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808186"/>
            <a:ext cx="9383731" cy="370166"/>
          </a:xfrm>
        </p:spPr>
        <p:txBody>
          <a:bodyPr/>
          <a:lstStyle/>
          <a:p>
            <a:r>
              <a:rPr lang="en-US" dirty="0">
                <a:solidFill>
                  <a:srgbClr val="00292E"/>
                </a:solidFill>
              </a:rPr>
              <a:t>POC: Multi-Agent Claims Review System</a:t>
            </a:r>
            <a:br>
              <a:rPr lang="en-US" dirty="0">
                <a:solidFill>
                  <a:srgbClr val="00292E"/>
                </a:solidFill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3DE72-12F0-8749-68B7-36F4A74D24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E93A565A-931C-D206-31D0-7D40AF53CFF4}"/>
              </a:ext>
            </a:extLst>
          </p:cNvPr>
          <p:cNvSpPr/>
          <p:nvPr/>
        </p:nvSpPr>
        <p:spPr>
          <a:xfrm>
            <a:off x="685800" y="365760"/>
            <a:ext cx="800000" cy="365760"/>
          </a:xfrm>
        </p:spPr>
        <p:txBody>
          <a:bodyPr wrap="square" lIns="0" tIns="0" rIns="0" bIns="0"/>
          <a:lstStyle/>
          <a:p>
            <a:r>
              <a:rPr lang="en-US" sz="1400" b="1" dirty="0">
                <a:solidFill>
                  <a:srgbClr val="107082"/>
                </a:solidFill>
              </a:rPr>
              <a:t>05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90879BC5-8262-823B-81AB-11FCEC7A39B0}"/>
              </a:ext>
            </a:extLst>
          </p:cNvPr>
          <p:cNvSpPr/>
          <p:nvPr/>
        </p:nvSpPr>
        <p:spPr>
          <a:xfrm>
            <a:off x="685800" y="1750000"/>
            <a:ext cx="3300000" cy="950000"/>
          </a:xfrm>
          <a:prstGeom prst="roundRect">
            <a:avLst>
              <a:gd name="adj" fmla="val 4000"/>
            </a:avLst>
          </a:prstGeom>
          <a:solidFill>
            <a:srgbClr val="E8F6F9"/>
          </a:solidFill>
          <a:ln w="19050">
            <a:solidFill>
              <a:srgbClr val="107082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600" b="0" dirty="0">
                <a:solidFill>
                  <a:srgbClr val="1B2E31"/>
                </a:solidFill>
              </a:rPr>
              <a:t>📄</a:t>
            </a:r>
          </a:p>
          <a:p>
            <a:pPr algn="ctr"/>
            <a:r>
              <a:rPr lang="en-US" sz="1400" b="1" dirty="0">
                <a:solidFill>
                  <a:srgbClr val="1B2E31"/>
                </a:solidFill>
              </a:rPr>
              <a:t>Claim Input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357E7867-7385-1035-7649-CA72FFE74CAF}"/>
              </a:ext>
            </a:extLst>
          </p:cNvPr>
          <p:cNvSpPr/>
          <p:nvPr/>
        </p:nvSpPr>
        <p:spPr>
          <a:xfrm>
            <a:off x="4445800" y="1750000"/>
            <a:ext cx="3300000" cy="950000"/>
          </a:xfrm>
          <a:prstGeom prst="roundRect">
            <a:avLst>
              <a:gd name="adj" fmla="val 4000"/>
            </a:avLst>
          </a:prstGeom>
          <a:solidFill>
            <a:srgbClr val="0B1E2E"/>
          </a:solidFill>
          <a:ln w="19050">
            <a:solidFill>
              <a:srgbClr val="107082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⚙️  Orchestrator</a:t>
            </a:r>
          </a:p>
          <a:p>
            <a:pPr algn="ctr"/>
            <a:r>
              <a:rPr lang="en-US" sz="1150" b="0" dirty="0">
                <a:solidFill>
                  <a:srgbClr val="C7DEE2"/>
                </a:solidFill>
              </a:rPr>
              <a:t>(LangChain + Llama 3.3 70B)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466AC9CA-440D-6AA3-48F1-6E860BCDB651}"/>
              </a:ext>
            </a:extLst>
          </p:cNvPr>
          <p:cNvSpPr/>
          <p:nvPr/>
        </p:nvSpPr>
        <p:spPr>
          <a:xfrm>
            <a:off x="8205800" y="1750000"/>
            <a:ext cx="3300000" cy="950000"/>
          </a:xfrm>
          <a:prstGeom prst="roundRect">
            <a:avLst>
              <a:gd name="adj" fmla="val 4000"/>
            </a:avLst>
          </a:prstGeom>
          <a:solidFill>
            <a:srgbClr val="E8F6F9"/>
          </a:solidFill>
          <a:ln w="19050">
            <a:solidFill>
              <a:srgbClr val="107082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1B2E31"/>
                </a:solidFill>
              </a:rPr>
              <a:t>📚  RAG Knowledge Base</a:t>
            </a:r>
          </a:p>
          <a:p>
            <a:pPr algn="ctr"/>
            <a:r>
              <a:rPr lang="en-US" sz="1150" b="0" dirty="0">
                <a:solidFill>
                  <a:srgbClr val="4A5C60"/>
                </a:solidFill>
              </a:rPr>
              <a:t>(CMS Guidelines + ICD-10 Codes)</a:t>
            </a:r>
          </a:p>
        </p:txBody>
      </p:sp>
      <p:cxnSp>
        <p:nvCxnSpPr>
          <p:cNvPr id="10" name="arrow">
            <a:extLst>
              <a:ext uri="{FF2B5EF4-FFF2-40B4-BE49-F238E27FC236}">
                <a16:creationId xmlns:a16="http://schemas.microsoft.com/office/drawing/2014/main" id="{A0C92206-0B21-D05F-2CC5-2C082EF1DED2}"/>
              </a:ext>
            </a:extLst>
          </p:cNvPr>
          <p:cNvCxnSpPr/>
          <p:nvPr/>
        </p:nvCxnSpPr>
        <p:spPr>
          <a:xfrm>
            <a:off x="3985800" y="2225000"/>
            <a:ext cx="460000" cy="1"/>
          </a:xfrm>
          <a:prstGeom prst="straightConnector1">
            <a:avLst/>
          </a:prstGeom>
          <a:ln w="38100">
            <a:solidFill>
              <a:srgbClr val="107082"/>
            </a:solidFill>
            <a:tailEnd type="triangle" w="med" len="med"/>
          </a:ln>
        </p:spPr>
      </p:cxnSp>
      <p:cxnSp>
        <p:nvCxnSpPr>
          <p:cNvPr id="11" name="arrow">
            <a:extLst>
              <a:ext uri="{FF2B5EF4-FFF2-40B4-BE49-F238E27FC236}">
                <a16:creationId xmlns:a16="http://schemas.microsoft.com/office/drawing/2014/main" id="{1486735D-D066-26E5-EE5E-C7FFC25BACC8}"/>
              </a:ext>
            </a:extLst>
          </p:cNvPr>
          <p:cNvCxnSpPr/>
          <p:nvPr/>
        </p:nvCxnSpPr>
        <p:spPr>
          <a:xfrm>
            <a:off x="7745800" y="2225000"/>
            <a:ext cx="460000" cy="1"/>
          </a:xfrm>
          <a:prstGeom prst="straightConnector1">
            <a:avLst/>
          </a:prstGeom>
          <a:ln w="38100">
            <a:solidFill>
              <a:srgbClr val="107082"/>
            </a:solidFill>
            <a:tailEnd type="triangle" w="med" len="med"/>
          </a:ln>
        </p:spPr>
      </p:cxnSp>
      <p:sp>
        <p:nvSpPr>
          <p:cNvPr id="12" name="box">
            <a:extLst>
              <a:ext uri="{FF2B5EF4-FFF2-40B4-BE49-F238E27FC236}">
                <a16:creationId xmlns:a16="http://schemas.microsoft.com/office/drawing/2014/main" id="{E3790691-11C0-9A64-22A0-A8F80BC764F2}"/>
              </a:ext>
            </a:extLst>
          </p:cNvPr>
          <p:cNvSpPr/>
          <p:nvPr/>
        </p:nvSpPr>
        <p:spPr>
          <a:xfrm>
            <a:off x="685800" y="3200000"/>
            <a:ext cx="2540000" cy="1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07082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2000" b="0" dirty="0">
                <a:solidFill>
                  <a:srgbClr val="1B2E31"/>
                </a:solidFill>
              </a:rPr>
              <a:t>💰</a:t>
            </a:r>
          </a:p>
          <a:p>
            <a:pPr algn="ctr"/>
            <a:r>
              <a:rPr lang="en-US" sz="1300" b="1" dirty="0">
                <a:solidFill>
                  <a:srgbClr val="1B2E31"/>
                </a:solidFill>
              </a:rPr>
              <a:t>Cost Analysis Agent</a:t>
            </a:r>
          </a:p>
          <a:p>
            <a:pPr algn="ctr"/>
            <a:r>
              <a:rPr lang="en-US" sz="1000" b="0" dirty="0">
                <a:solidFill>
                  <a:srgbClr val="6C7A7D"/>
                </a:solidFill>
              </a:rPr>
              <a:t>Expected range · Risk score · Assessment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E2718757-06C0-4476-C888-E0ACFE32E6AB}"/>
              </a:ext>
            </a:extLst>
          </p:cNvPr>
          <p:cNvSpPr/>
          <p:nvPr/>
        </p:nvSpPr>
        <p:spPr>
          <a:xfrm>
            <a:off x="3445800" y="3200000"/>
            <a:ext cx="2540000" cy="1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2000" b="0" dirty="0">
                <a:solidFill>
                  <a:srgbClr val="1B2E31"/>
                </a:solidFill>
              </a:rPr>
              <a:t>🔍</a:t>
            </a:r>
          </a:p>
          <a:p>
            <a:pPr algn="ctr"/>
            <a:r>
              <a:rPr lang="en-US" sz="1300" b="1" dirty="0">
                <a:solidFill>
                  <a:srgbClr val="1B2E31"/>
                </a:solidFill>
              </a:rPr>
              <a:t>Fraud Detection Agent</a:t>
            </a:r>
          </a:p>
          <a:p>
            <a:pPr algn="ctr"/>
            <a:r>
              <a:rPr lang="en-US" sz="1000" b="0" dirty="0">
                <a:solidFill>
                  <a:srgbClr val="6C7A7D"/>
                </a:solidFill>
              </a:rPr>
              <a:t>Indicators · Red flags · Fraud risk score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34DF9D1B-78FF-CE27-4CA6-9ED0DDC4EFB3}"/>
              </a:ext>
            </a:extLst>
          </p:cNvPr>
          <p:cNvSpPr/>
          <p:nvPr/>
        </p:nvSpPr>
        <p:spPr>
          <a:xfrm>
            <a:off x="6205800" y="3200000"/>
            <a:ext cx="2540000" cy="1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99927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2000" b="0" dirty="0">
                <a:solidFill>
                  <a:srgbClr val="1B2E31"/>
                </a:solidFill>
              </a:rPr>
              <a:t>📋</a:t>
            </a:r>
          </a:p>
          <a:p>
            <a:pPr algn="ctr"/>
            <a:r>
              <a:rPr lang="en-US" sz="1300" b="1" dirty="0">
                <a:solidFill>
                  <a:srgbClr val="1B2E31"/>
                </a:solidFill>
              </a:rPr>
              <a:t>Coding Validation Agent</a:t>
            </a:r>
          </a:p>
          <a:p>
            <a:pPr algn="ctr"/>
            <a:r>
              <a:rPr lang="en-US" sz="1000" b="0" dirty="0">
                <a:solidFill>
                  <a:srgbClr val="6C7A7D"/>
                </a:solidFill>
              </a:rPr>
              <a:t>Code match · Procedure match · Accuracy score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54A79ADB-9002-F2B5-1D98-22A4073C386C}"/>
              </a:ext>
            </a:extLst>
          </p:cNvPr>
          <p:cNvSpPr/>
          <p:nvPr/>
        </p:nvSpPr>
        <p:spPr>
          <a:xfrm>
            <a:off x="8965800" y="3200000"/>
            <a:ext cx="2540000" cy="1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8A5A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2000" b="0" dirty="0">
                <a:solidFill>
                  <a:srgbClr val="1B2E31"/>
                </a:solidFill>
              </a:rPr>
              <a:t>⚖️</a:t>
            </a:r>
          </a:p>
          <a:p>
            <a:pPr algn="ctr"/>
            <a:r>
              <a:rPr lang="en-US" sz="1300" b="1" dirty="0">
                <a:solidFill>
                  <a:srgbClr val="1B2E31"/>
                </a:solidFill>
              </a:rPr>
              <a:t>Decision Agent</a:t>
            </a:r>
          </a:p>
          <a:p>
            <a:pPr algn="ctr"/>
            <a:r>
              <a:rPr lang="en-US" sz="1000" b="0" dirty="0">
                <a:solidFill>
                  <a:srgbClr val="6C7A7D"/>
                </a:solidFill>
              </a:rPr>
              <a:t>APPROVE / FLAG / REJECT + chain-of-thought audit</a:t>
            </a:r>
          </a:p>
        </p:txBody>
      </p:sp>
      <p:cxnSp>
        <p:nvCxnSpPr>
          <p:cNvPr id="16" name="varrow">
            <a:extLst>
              <a:ext uri="{FF2B5EF4-FFF2-40B4-BE49-F238E27FC236}">
                <a16:creationId xmlns:a16="http://schemas.microsoft.com/office/drawing/2014/main" id="{F8C8FB23-9675-64A4-4032-DF6426A60655}"/>
              </a:ext>
            </a:extLst>
          </p:cNvPr>
          <p:cNvCxnSpPr/>
          <p:nvPr/>
        </p:nvCxnSpPr>
        <p:spPr>
          <a:xfrm>
            <a:off x="4715800" y="4800000"/>
            <a:ext cx="1" cy="480000"/>
          </a:xfrm>
          <a:prstGeom prst="straightConnector1">
            <a:avLst/>
          </a:prstGeom>
          <a:ln w="57150">
            <a:solidFill>
              <a:srgbClr val="107082"/>
            </a:solidFill>
            <a:tailEnd type="triangle" w="lg" len="lg"/>
          </a:ln>
        </p:spPr>
      </p:cxnSp>
      <p:sp>
        <p:nvSpPr>
          <p:cNvPr id="17" name="GovBar">
            <a:extLst>
              <a:ext uri="{FF2B5EF4-FFF2-40B4-BE49-F238E27FC236}">
                <a16:creationId xmlns:a16="http://schemas.microsoft.com/office/drawing/2014/main" id="{34538102-915B-E46D-E8A2-7D8B3860BADF}"/>
              </a:ext>
            </a:extLst>
          </p:cNvPr>
          <p:cNvSpPr/>
          <p:nvPr/>
        </p:nvSpPr>
        <p:spPr>
          <a:xfrm>
            <a:off x="685800" y="5280000"/>
            <a:ext cx="8500000" cy="820000"/>
          </a:xfrm>
          <a:prstGeom prst="rect">
            <a:avLst/>
          </a:prstGeom>
          <a:solidFill>
            <a:srgbClr val="0B1E2E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US" sz="1300" b="1" dirty="0">
                <a:solidFill>
                  <a:srgbClr val="64B2C1"/>
                </a:solidFill>
              </a:rPr>
              <a:t>Governance Layer: Confidence Score · Bias Flag · Human Override · Full Audit Log (JSON)</a:t>
            </a:r>
          </a:p>
        </p:txBody>
      </p:sp>
      <p:sp>
        <p:nvSpPr>
          <p:cNvPr id="18" name="PageNumBg">
            <a:extLst>
              <a:ext uri="{FF2B5EF4-FFF2-40B4-BE49-F238E27FC236}">
                <a16:creationId xmlns:a16="http://schemas.microsoft.com/office/drawing/2014/main" id="{1F05D573-3B09-057D-6C22-C9CD84B5527D}"/>
              </a:ext>
            </a:extLst>
          </p:cNvPr>
          <p:cNvSpPr/>
          <p:nvPr/>
        </p:nvSpPr>
        <p:spPr>
          <a:xfrm>
            <a:off x="11430000" y="6400000"/>
            <a:ext cx="380000" cy="380000"/>
          </a:xfrm>
          <a:prstGeom prst="ellipse">
            <a:avLst/>
          </a:prstGeom>
          <a:solidFill>
            <a:srgbClr val="F0CDA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fld id="{EECC7194-A4D0-457B-9D3E-53681723AFF8}" type="slidenum">
              <a:rPr lang="en-US" sz="1100" b="1">
                <a:solidFill>
                  <a:srgbClr val="00292E"/>
                </a:solidFill>
              </a:rPr>
              <a:t>7</a:t>
            </a:fld>
            <a:endParaRPr lang="en-US" sz="1100" b="1">
              <a:solidFill>
                <a:srgbClr val="0029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341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274320"/>
            <a:ext cx="800000" cy="365760"/>
          </a:xfrm>
        </p:spPr>
        <p:txBody>
          <a:bodyPr wrap="square" lIns="0" tIns="0" rIns="0" bIns="0"/>
          <a:lstStyle/>
          <a:p>
            <a:r>
              <a:rPr lang="en-US" sz="1400" b="1" dirty="0">
                <a:solidFill>
                  <a:srgbClr val="107082"/>
                </a:solidFill>
              </a:rPr>
              <a:t>05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364300"/>
            <a:ext cx="10820400" cy="600000"/>
          </a:xfrm>
        </p:spPr>
        <p:txBody>
          <a:bodyPr wrap="square" lIns="0" tIns="0" rIns="0" bIns="0"/>
          <a:lstStyle/>
          <a:p>
            <a:r>
              <a:rPr lang="en-US" sz="3200" b="1" dirty="0">
                <a:solidFill>
                  <a:srgbClr val="00292E"/>
                </a:solidFill>
              </a:rPr>
              <a:t>POC: Sample Claim Decision Output</a:t>
            </a:r>
          </a:p>
        </p:txBody>
      </p:sp>
      <p:sp>
        <p:nvSpPr>
          <p:cNvPr id="11" name="bg"/>
          <p:cNvSpPr/>
          <p:nvPr/>
        </p:nvSpPr>
        <p:spPr>
          <a:xfrm>
            <a:off x="685800" y="1000000"/>
            <a:ext cx="3450000" cy="16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b"/>
          <p:cNvSpPr/>
          <p:nvPr/>
        </p:nvSpPr>
        <p:spPr>
          <a:xfrm>
            <a:off x="914400" y="1228600"/>
            <a:ext cx="2992800" cy="38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0" dirty="0">
                <a:solidFill>
                  <a:srgbClr val="107082"/>
                </a:solidFill>
              </a:rPr>
              <a:t>Sample Claim Input</a:t>
            </a:r>
          </a:p>
        </p:txBody>
      </p:sp>
      <p:sp>
        <p:nvSpPr>
          <p:cNvPr id="13" name="tb"/>
          <p:cNvSpPr/>
          <p:nvPr/>
        </p:nvSpPr>
        <p:spPr>
          <a:xfrm>
            <a:off x="914400" y="1680000"/>
            <a:ext cx="2992800" cy="85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0" i="0" dirty="0">
                <a:solidFill>
                  <a:srgbClr val="2C3A3D"/>
                </a:solidFill>
              </a:rPr>
              <a:t>Claim ID: CLM-2024-001   |   Age: 45</a:t>
            </a:r>
          </a:p>
          <a:p>
            <a:pPr algn="l"/>
            <a:r>
              <a:rPr lang="en-US" sz="1050" b="0" i="0" dirty="0">
                <a:solidFill>
                  <a:srgbClr val="2C3A3D"/>
                </a:solidFill>
              </a:rPr>
              <a:t>Diagnosis: Type 2 Diabetes (E11.9)</a:t>
            </a:r>
          </a:p>
          <a:p>
            <a:pPr algn="l"/>
            <a:r>
              <a:rPr lang="en-US" sz="1050" b="0" i="0" dirty="0">
                <a:solidFill>
                  <a:srgbClr val="2C3A3D"/>
                </a:solidFill>
              </a:rPr>
              <a:t>Procedure: Outpatient Consultation</a:t>
            </a:r>
          </a:p>
          <a:p>
            <a:pPr algn="l"/>
            <a:r>
              <a:rPr lang="en-US" sz="1050" b="0" i="0" dirty="0">
                <a:solidFill>
                  <a:srgbClr val="2C3A3D"/>
                </a:solidFill>
              </a:rPr>
              <a:t>Billed Amount: $450   |   Provider: Primary Care</a:t>
            </a:r>
          </a:p>
        </p:txBody>
      </p:sp>
      <p:sp>
        <p:nvSpPr>
          <p:cNvPr id="14" name="LiveDemoButton"/>
          <p:cNvSpPr/>
          <p:nvPr/>
        </p:nvSpPr>
        <p:spPr>
          <a:xfrm>
            <a:off x="685800" y="2930000"/>
            <a:ext cx="3450000" cy="620000"/>
          </a:xfrm>
          <a:prstGeom prst="roundRect">
            <a:avLst>
              <a:gd name="adj" fmla="val 50000"/>
            </a:avLst>
          </a:prstGeom>
          <a:solidFill>
            <a:srgbClr val="F9992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00292E"/>
                </a:solidFill>
                <a:hlinkClick r:id="rId2"/>
              </a:rPr>
              <a:t>🚀 Launch Live POC Dashboard</a:t>
            </a:r>
          </a:p>
        </p:txBody>
      </p:sp>
      <p:sp>
        <p:nvSpPr>
          <p:cNvPr id="15" name="tb"/>
          <p:cNvSpPr/>
          <p:nvPr/>
        </p:nvSpPr>
        <p:spPr>
          <a:xfrm>
            <a:off x="685800" y="3730000"/>
            <a:ext cx="3450000" cy="400000"/>
          </a:xfr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50" b="0" i="1" dirty="0">
                <a:solidFill>
                  <a:srgbClr val="8A9A9D"/>
                </a:solidFill>
              </a:rPr>
              <a:t>Click to try the live multi-agent demo</a:t>
            </a:r>
          </a:p>
        </p:txBody>
      </p:sp>
      <p:sp>
        <p:nvSpPr>
          <p:cNvPr id="16" name="bg"/>
          <p:cNvSpPr/>
          <p:nvPr/>
        </p:nvSpPr>
        <p:spPr>
          <a:xfrm>
            <a:off x="4370800" y="1000000"/>
            <a:ext cx="3450000" cy="14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b"/>
          <p:cNvSpPr/>
          <p:nvPr/>
        </p:nvSpPr>
        <p:spPr>
          <a:xfrm>
            <a:off x="4599400" y="1200000"/>
            <a:ext cx="2500000" cy="38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0" dirty="0">
                <a:solidFill>
                  <a:srgbClr val="1B2E31"/>
                </a:solidFill>
              </a:rPr>
              <a:t>💰  Cost Analysis</a:t>
            </a:r>
          </a:p>
        </p:txBody>
      </p:sp>
      <p:sp>
        <p:nvSpPr>
          <p:cNvPr id="18" name="tb"/>
          <p:cNvSpPr/>
          <p:nvPr/>
        </p:nvSpPr>
        <p:spPr>
          <a:xfrm>
            <a:off x="6470800" y="1200000"/>
            <a:ext cx="1150000" cy="380000"/>
          </a:xfrm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950" b="1" i="0" dirty="0">
                <a:solidFill>
                  <a:srgbClr val="107082"/>
                </a:solidFill>
              </a:rPr>
              <a:t>Confidence: 80%</a:t>
            </a:r>
          </a:p>
        </p:txBody>
      </p:sp>
      <p:sp>
        <p:nvSpPr>
          <p:cNvPr id="19" name="tb"/>
          <p:cNvSpPr/>
          <p:nvPr/>
        </p:nvSpPr>
        <p:spPr>
          <a:xfrm>
            <a:off x="4599400" y="1650000"/>
            <a:ext cx="2992800" cy="70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Expected Range: $300–$1,000</a:t>
            </a:r>
          </a:p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Risk Score:  🟢  2 / 10</a:t>
            </a:r>
          </a:p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Assessment:  ✅  Normal</a:t>
            </a:r>
          </a:p>
        </p:txBody>
      </p:sp>
      <p:sp>
        <p:nvSpPr>
          <p:cNvPr id="20" name="bg"/>
          <p:cNvSpPr/>
          <p:nvPr/>
        </p:nvSpPr>
        <p:spPr>
          <a:xfrm>
            <a:off x="4370800" y="2600000"/>
            <a:ext cx="3450000" cy="14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b"/>
          <p:cNvSpPr/>
          <p:nvPr/>
        </p:nvSpPr>
        <p:spPr>
          <a:xfrm>
            <a:off x="4599400" y="2800000"/>
            <a:ext cx="2500000" cy="38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0" dirty="0">
                <a:solidFill>
                  <a:srgbClr val="1B2E31"/>
                </a:solidFill>
              </a:rPr>
              <a:t>🔍  Fraud Detection</a:t>
            </a:r>
          </a:p>
        </p:txBody>
      </p:sp>
      <p:sp>
        <p:nvSpPr>
          <p:cNvPr id="22" name="tb"/>
          <p:cNvSpPr/>
          <p:nvPr/>
        </p:nvSpPr>
        <p:spPr>
          <a:xfrm>
            <a:off x="6470800" y="2800000"/>
            <a:ext cx="1150000" cy="380000"/>
          </a:xfrm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950" b="1" i="0" dirty="0">
                <a:solidFill>
                  <a:srgbClr val="6C4FD6"/>
                </a:solidFill>
              </a:rPr>
              <a:t>Confidence: 90%</a:t>
            </a:r>
          </a:p>
        </p:txBody>
      </p:sp>
      <p:sp>
        <p:nvSpPr>
          <p:cNvPr id="23" name="tb"/>
          <p:cNvSpPr/>
          <p:nvPr/>
        </p:nvSpPr>
        <p:spPr>
          <a:xfrm>
            <a:off x="4599400" y="3250000"/>
            <a:ext cx="2992800" cy="70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Indicators Found:  ✅  No</a:t>
            </a:r>
          </a:p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Risk Score:  🟢  1 / 10</a:t>
            </a:r>
          </a:p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Red Flags: None found</a:t>
            </a:r>
          </a:p>
        </p:txBody>
      </p:sp>
      <p:sp>
        <p:nvSpPr>
          <p:cNvPr id="24" name="bg"/>
          <p:cNvSpPr/>
          <p:nvPr/>
        </p:nvSpPr>
        <p:spPr>
          <a:xfrm>
            <a:off x="4370800" y="4200000"/>
            <a:ext cx="3450000" cy="14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b"/>
          <p:cNvSpPr/>
          <p:nvPr/>
        </p:nvSpPr>
        <p:spPr>
          <a:xfrm>
            <a:off x="4599400" y="4400000"/>
            <a:ext cx="2500000" cy="38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0" dirty="0">
                <a:solidFill>
                  <a:srgbClr val="1B2E31"/>
                </a:solidFill>
              </a:rPr>
              <a:t>📋  Coding Validation</a:t>
            </a:r>
          </a:p>
        </p:txBody>
      </p:sp>
      <p:sp>
        <p:nvSpPr>
          <p:cNvPr id="26" name="tb"/>
          <p:cNvSpPr/>
          <p:nvPr/>
        </p:nvSpPr>
        <p:spPr>
          <a:xfrm>
            <a:off x="6470800" y="4400000"/>
            <a:ext cx="1150000" cy="380000"/>
          </a:xfrm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950" b="1" i="0" dirty="0">
                <a:solidFill>
                  <a:srgbClr val="D98C10"/>
                </a:solidFill>
              </a:rPr>
              <a:t>Confidence: 100%</a:t>
            </a:r>
          </a:p>
        </p:txBody>
      </p:sp>
      <p:sp>
        <p:nvSpPr>
          <p:cNvPr id="27" name="tb"/>
          <p:cNvSpPr/>
          <p:nvPr/>
        </p:nvSpPr>
        <p:spPr>
          <a:xfrm>
            <a:off x="4599400" y="4850000"/>
            <a:ext cx="2992800" cy="70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Code Match:  ✅  Valid</a:t>
            </a:r>
          </a:p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Procedure:  ✅  Appropriate</a:t>
            </a:r>
          </a:p>
          <a:p>
            <a:pPr algn="l"/>
            <a:r>
              <a:rPr lang="en-US" sz="1000" b="0" i="0" dirty="0">
                <a:solidFill>
                  <a:srgbClr val="3C4A4D"/>
                </a:solidFill>
              </a:rPr>
              <a:t>Accuracy: 10 / 10</a:t>
            </a:r>
          </a:p>
        </p:txBody>
      </p:sp>
      <p:sp>
        <p:nvSpPr>
          <p:cNvPr id="28" name="bg"/>
          <p:cNvSpPr/>
          <p:nvPr/>
        </p:nvSpPr>
        <p:spPr>
          <a:xfrm>
            <a:off x="8055800" y="1000000"/>
            <a:ext cx="3450400" cy="4650000"/>
          </a:xfrm>
          <a:prstGeom prst="roundRect">
            <a:avLst>
              <a:gd name="adj" fmla="val 4500"/>
            </a:avLst>
          </a:prstGeom>
          <a:solidFill>
            <a:srgbClr val="E9F8F1"/>
          </a:solidFill>
          <a:ln w="19050">
            <a:solidFill>
              <a:srgbClr val="1F8A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b"/>
          <p:cNvSpPr/>
          <p:nvPr/>
        </p:nvSpPr>
        <p:spPr>
          <a:xfrm>
            <a:off x="8330120" y="1320000"/>
            <a:ext cx="2901760" cy="380000"/>
          </a:xfr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i="0" dirty="0">
                <a:solidFill>
                  <a:srgbClr val="1F8A5A"/>
                </a:solidFill>
              </a:rPr>
              <a:t>FINAL DECISION</a:t>
            </a:r>
          </a:p>
        </p:txBody>
      </p:sp>
      <p:sp>
        <p:nvSpPr>
          <p:cNvPr id="30" name="tb"/>
          <p:cNvSpPr/>
          <p:nvPr/>
        </p:nvSpPr>
        <p:spPr>
          <a:xfrm>
            <a:off x="8195800" y="1800000"/>
            <a:ext cx="3170400" cy="750000"/>
          </a:xfr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2800" b="1" i="0" dirty="0">
                <a:solidFill>
                  <a:srgbClr val="1F8A5A"/>
                </a:solidFill>
              </a:rPr>
              <a:t>✅  APPROVE</a:t>
            </a:r>
          </a:p>
        </p:txBody>
      </p:sp>
      <p:sp>
        <p:nvSpPr>
          <p:cNvPr id="31" name="tb"/>
          <p:cNvSpPr/>
          <p:nvPr/>
        </p:nvSpPr>
        <p:spPr>
          <a:xfrm>
            <a:off x="8330120" y="2750000"/>
            <a:ext cx="2901760" cy="300000"/>
          </a:xfr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000" b="0" i="0" dirty="0">
                <a:solidFill>
                  <a:srgbClr val="2C3A3D"/>
                </a:solidFill>
              </a:rPr>
              <a:t>Overall Risk: 1/10</a:t>
            </a:r>
          </a:p>
        </p:txBody>
      </p:sp>
      <p:sp>
        <p:nvSpPr>
          <p:cNvPr id="32" name="tb"/>
          <p:cNvSpPr/>
          <p:nvPr/>
        </p:nvSpPr>
        <p:spPr>
          <a:xfrm>
            <a:off x="8330120" y="3100000"/>
            <a:ext cx="2901760" cy="300000"/>
          </a:xfr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000" b="0" i="0" dirty="0">
                <a:solidFill>
                  <a:srgbClr val="2C3A3D"/>
                </a:solidFill>
              </a:rPr>
              <a:t>Priority:  🟢  Low</a:t>
            </a:r>
          </a:p>
        </p:txBody>
      </p:sp>
      <p:sp>
        <p:nvSpPr>
          <p:cNvPr id="33" name="tb"/>
          <p:cNvSpPr/>
          <p:nvPr/>
        </p:nvSpPr>
        <p:spPr>
          <a:xfrm>
            <a:off x="8330120" y="3450000"/>
            <a:ext cx="2901760" cy="300000"/>
          </a:xfr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000" b="0" i="0" dirty="0">
                <a:solidFill>
                  <a:srgbClr val="2C3A3D"/>
                </a:solidFill>
              </a:rPr>
              <a:t>Confidence: 90%</a:t>
            </a:r>
          </a:p>
        </p:txBody>
      </p:sp>
      <p:sp>
        <p:nvSpPr>
          <p:cNvPr id="34" name="tb"/>
          <p:cNvSpPr/>
          <p:nvPr/>
        </p:nvSpPr>
        <p:spPr>
          <a:xfrm>
            <a:off x="8330120" y="4900000"/>
            <a:ext cx="2901760" cy="550000"/>
          </a:xfr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50" b="0" i="1" dirty="0">
                <a:solidFill>
                  <a:srgbClr val="5A8C74"/>
                </a:solidFill>
              </a:rPr>
              <a:t>Decided in 4.2 seconds</a:t>
            </a:r>
          </a:p>
        </p:txBody>
      </p:sp>
      <p:sp>
        <p:nvSpPr>
          <p:cNvPr id="35" name="bg"/>
          <p:cNvSpPr/>
          <p:nvPr/>
        </p:nvSpPr>
        <p:spPr>
          <a:xfrm>
            <a:off x="685800" y="5790000"/>
            <a:ext cx="10820400" cy="101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1E9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b"/>
          <p:cNvSpPr/>
          <p:nvPr/>
        </p:nvSpPr>
        <p:spPr>
          <a:xfrm>
            <a:off x="960120" y="6070000"/>
            <a:ext cx="3200000" cy="38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i="0" dirty="0">
                <a:solidFill>
                  <a:srgbClr val="1B2E31"/>
                </a:solidFill>
              </a:rPr>
              <a:t>🛡️  Governance Layer Output</a:t>
            </a:r>
          </a:p>
        </p:txBody>
      </p:sp>
      <p:sp>
        <p:nvSpPr>
          <p:cNvPr id="37" name="tb"/>
          <p:cNvSpPr/>
          <p:nvPr/>
        </p:nvSpPr>
        <p:spPr>
          <a:xfrm>
            <a:off x="960120" y="6410000"/>
            <a:ext cx="10271760" cy="300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0" i="0" dirty="0">
                <a:solidFill>
                  <a:srgbClr val="4A5C60"/>
                </a:solidFill>
              </a:rPr>
              <a:t>✔  Confidence scores logged per agent      ✔  Bias flag: False      ✔  Human override available      ✔  Full audit trail exported as JSON</a:t>
            </a:r>
          </a:p>
        </p:txBody>
      </p:sp>
      <p:sp>
        <p:nvSpPr>
          <p:cNvPr id="900" name="SlideNum"/>
          <p:cNvSpPr/>
          <p:nvPr/>
        </p:nvSpPr>
        <p:spPr>
          <a:xfrm>
            <a:off x="11650000" y="152400"/>
            <a:ext cx="380000" cy="280000"/>
          </a:xfrm>
        </p:spPr>
        <p:txBody>
          <a:bodyPr wrap="square" lIns="0" tIns="0" rIns="0" bIns="0"/>
          <a:lstStyle/>
          <a:p>
            <a:pPr algn="r"/>
            <a:fld id="{EECC7194-A4D0-457B-9D3E-53681723AFF8}" type="slidenum">
              <a:rPr lang="en-US" sz="1000">
                <a:solidFill>
                  <a:srgbClr val="AAB6B8"/>
                </a:solidFill>
              </a:rPr>
              <a:t>8</a:t>
            </a:fld>
            <a:endParaRPr lang="en-US" sz="1000">
              <a:solidFill>
                <a:srgbClr val="AAB6B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50292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POC: Enterprise Claims Processing Architecture</a:t>
            </a:r>
          </a:p>
        </p:txBody>
      </p:sp>
      <p:sp>
        <p:nvSpPr>
          <p:cNvPr id="102" name="Subtitle"/>
          <p:cNvSpPr/>
          <p:nvPr/>
        </p:nvSpPr>
        <p:spPr>
          <a:xfrm>
            <a:off x="457200" y="731520"/>
            <a:ext cx="11277600" cy="274320"/>
          </a:xfrm>
        </p:spPr>
        <p:txBody>
          <a:bodyPr wrap="square" lIns="0" tIns="0" rIns="0" bIns="0"/>
          <a:lstStyle/>
          <a:p>
            <a:r>
              <a:rPr lang="en-US" sz="1200" i="1" dirty="0">
                <a:solidFill>
                  <a:srgbClr val="8FC1CC"/>
                </a:solidFill>
              </a:rPr>
              <a:t>Five-layer pipeline from EHR ingestion to human-in-the-loop decisioning</a:t>
            </a:r>
          </a:p>
        </p:txBody>
      </p:sp>
      <p:sp>
        <p:nvSpPr>
          <p:cNvPr id="103" name="EHR"/>
          <p:cNvSpPr/>
          <p:nvPr/>
        </p:nvSpPr>
        <p:spPr>
          <a:xfrm>
            <a:off x="4296000" y="1120000"/>
            <a:ext cx="3600000" cy="340000"/>
          </a:xfrm>
          <a:prstGeom prst="roundRect">
            <a:avLst>
              <a:gd name="adj" fmla="val 8000"/>
            </a:avLst>
          </a:prstGeom>
          <a:solidFill>
            <a:srgbClr val="0B3A42"/>
          </a:solidFill>
          <a:ln w="12700">
            <a:solidFill>
              <a:srgbClr val="107082"/>
            </a:solidFill>
          </a:ln>
        </p:spPr>
        <p:txBody>
          <a:bodyPr wrap="square" lIns="45720" tIns="27432" rIns="45720" bIns="27432" anchor="ctr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Hospital / Provider EHR</a:t>
            </a:r>
          </a:p>
          <a:p>
            <a:pPr algn="ctr"/>
            <a:r>
              <a:rPr lang="en-US" sz="850" b="0" dirty="0">
                <a:solidFill>
                  <a:srgbClr val="C7DEE2"/>
                </a:solidFill>
              </a:rPr>
              <a:t>Submits medical bill</a:t>
            </a:r>
          </a:p>
        </p:txBody>
      </p:sp>
      <p:sp>
        <p:nvSpPr>
          <p:cNvPr id="104" name="b1"/>
          <p:cNvSpPr/>
          <p:nvPr/>
        </p:nvSpPr>
        <p:spPr>
          <a:xfrm>
            <a:off x="3486000" y="1750000"/>
            <a:ext cx="280000" cy="2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00292E"/>
                </a:solidFill>
              </a:rPr>
              <a:t>1</a:t>
            </a:r>
          </a:p>
        </p:txBody>
      </p:sp>
      <p:sp>
        <p:nvSpPr>
          <p:cNvPr id="105" name="Interop"/>
          <p:cNvSpPr/>
          <p:nvPr/>
        </p:nvSpPr>
        <p:spPr>
          <a:xfrm>
            <a:off x="3746000" y="1680000"/>
            <a:ext cx="4700000" cy="420000"/>
          </a:xfrm>
          <a:prstGeom prst="roundRect">
            <a:avLst>
              <a:gd name="adj" fmla="val 8000"/>
            </a:avLst>
          </a:prstGeom>
          <a:solidFill>
            <a:srgbClr val="054854"/>
          </a:solidFill>
          <a:ln w="12700">
            <a:solidFill>
              <a:srgbClr val="10708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Interoperability &amp; Ingestion Layer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Clearinghouse  →  FHIR / EDI 837 API</a:t>
            </a:r>
          </a:p>
        </p:txBody>
      </p:sp>
      <p:sp>
        <p:nvSpPr>
          <p:cNvPr id="106" name="b3"/>
          <p:cNvSpPr/>
          <p:nvPr/>
        </p:nvSpPr>
        <p:spPr>
          <a:xfrm>
            <a:off x="3486000" y="2380000"/>
            <a:ext cx="280000" cy="2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00292E"/>
                </a:solidFill>
              </a:rPr>
              <a:t>3</a:t>
            </a:r>
          </a:p>
        </p:txBody>
      </p:sp>
      <p:sp>
        <p:nvSpPr>
          <p:cNvPr id="107" name="Security"/>
          <p:cNvSpPr/>
          <p:nvPr/>
        </p:nvSpPr>
        <p:spPr>
          <a:xfrm>
            <a:off x="3746000" y="2310000"/>
            <a:ext cx="4700000" cy="420000"/>
          </a:xfrm>
          <a:prstGeom prst="roundRect">
            <a:avLst>
              <a:gd name="adj" fmla="val 8000"/>
            </a:avLst>
          </a:prstGeom>
          <a:solidFill>
            <a:srgbClr val="054854"/>
          </a:solidFill>
          <a:ln w="12700">
            <a:solidFill>
              <a:srgbClr val="10708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Security &amp; Compliance Layer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PII De-identification · AES-256 HIPAA Gateway Sandbox</a:t>
            </a:r>
          </a:p>
        </p:txBody>
      </p:sp>
      <p:sp>
        <p:nvSpPr>
          <p:cNvPr id="108" name="b4"/>
          <p:cNvSpPr/>
          <p:nvPr/>
        </p:nvSpPr>
        <p:spPr>
          <a:xfrm>
            <a:off x="3486000" y="3010000"/>
            <a:ext cx="280000" cy="2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00292E"/>
                </a:solidFill>
              </a:rPr>
              <a:t>4</a:t>
            </a:r>
          </a:p>
        </p:txBody>
      </p:sp>
      <p:sp>
        <p:nvSpPr>
          <p:cNvPr id="109" name="Queue"/>
          <p:cNvSpPr/>
          <p:nvPr/>
        </p:nvSpPr>
        <p:spPr>
          <a:xfrm>
            <a:off x="3746000" y="2940000"/>
            <a:ext cx="4700000" cy="420000"/>
          </a:xfrm>
          <a:prstGeom prst="roundRect">
            <a:avLst>
              <a:gd name="adj" fmla="val 8000"/>
            </a:avLst>
          </a:prstGeom>
          <a:solidFill>
            <a:srgbClr val="054854"/>
          </a:solidFill>
          <a:ln w="12700">
            <a:solidFill>
              <a:srgbClr val="10708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Scaling, Infrastructure &amp; Queue Layer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Enterprise Message Queue · Kafka / RabbitMQ</a:t>
            </a:r>
          </a:p>
        </p:txBody>
      </p:sp>
      <p:sp>
        <p:nvSpPr>
          <p:cNvPr id="110" name="Orchestrator"/>
          <p:cNvSpPr/>
          <p:nvPr/>
        </p:nvSpPr>
        <p:spPr>
          <a:xfrm>
            <a:off x="990000" y="3600000"/>
            <a:ext cx="4450000" cy="520000"/>
          </a:xfrm>
          <a:prstGeom prst="roundRect">
            <a:avLst>
              <a:gd name="adj" fmla="val 8000"/>
            </a:avLst>
          </a:prstGeom>
          <a:solidFill>
            <a:srgbClr val="107082"/>
          </a:solidFill>
          <a:ln w="12700">
            <a:solidFill>
              <a:srgbClr val="64B2C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Orchestrator API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FastAPI + Docker Microservices</a:t>
            </a:r>
          </a:p>
        </p:txBody>
      </p:sp>
      <p:sp>
        <p:nvSpPr>
          <p:cNvPr id="111" name="b2"/>
          <p:cNvSpPr/>
          <p:nvPr/>
        </p:nvSpPr>
        <p:spPr>
          <a:xfrm>
            <a:off x="6390000" y="3690000"/>
            <a:ext cx="280000" cy="2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00292E"/>
                </a:solidFill>
              </a:rPr>
              <a:t>2</a:t>
            </a:r>
          </a:p>
        </p:txBody>
      </p:sp>
      <p:sp>
        <p:nvSpPr>
          <p:cNvPr id="112" name="KB"/>
          <p:cNvSpPr/>
          <p:nvPr/>
        </p:nvSpPr>
        <p:spPr>
          <a:xfrm>
            <a:off x="6650000" y="3600000"/>
            <a:ext cx="4450000" cy="520000"/>
          </a:xfrm>
          <a:prstGeom prst="roundRect">
            <a:avLst>
              <a:gd name="adj" fmla="val 8000"/>
            </a:avLst>
          </a:prstGeom>
          <a:solidFill>
            <a:srgbClr val="107082"/>
          </a:solidFill>
          <a:ln w="12700">
            <a:solidFill>
              <a:srgbClr val="64B2C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Knowledge Base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Cloud Vector Search · CMS / ICD-10 API</a:t>
            </a:r>
          </a:p>
        </p:txBody>
      </p:sp>
      <p:cxnSp>
        <p:nvCxnSpPr>
          <p:cNvPr id="113" name="l1"/>
          <p:cNvCxnSpPr/>
          <p:nvPr/>
        </p:nvCxnSpPr>
        <p:spPr>
          <a:xfrm flipH="1">
            <a:off x="3215000" y="3360000"/>
            <a:ext cx="2881000" cy="24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cxnSp>
        <p:nvCxnSpPr>
          <p:cNvPr id="114" name="l2"/>
          <p:cNvCxnSpPr/>
          <p:nvPr/>
        </p:nvCxnSpPr>
        <p:spPr>
          <a:xfrm>
            <a:off x="6096000" y="3360000"/>
            <a:ext cx="2779000" cy="24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cxnSp>
        <p:nvCxnSpPr>
          <p:cNvPr id="115" name="l3"/>
          <p:cNvCxnSpPr/>
          <p:nvPr/>
        </p:nvCxnSpPr>
        <p:spPr>
          <a:xfrm flipH="1">
            <a:off x="5440000" y="3860000"/>
            <a:ext cx="1210000" cy="1"/>
          </a:xfrm>
          <a:prstGeom prst="line">
            <a:avLst/>
          </a:prstGeom>
          <a:ln w="19050">
            <a:solidFill>
              <a:srgbClr val="F99927"/>
            </a:solidFill>
            <a:prstDash val="dash"/>
            <a:tailEnd type="triangle" w="med" len="med"/>
          </a:ln>
        </p:spPr>
      </p:cxnSp>
      <p:sp>
        <p:nvSpPr>
          <p:cNvPr id="116" name="CostAgent"/>
          <p:cNvSpPr/>
          <p:nvPr/>
        </p:nvSpPr>
        <p:spPr>
          <a:xfrm>
            <a:off x="685800" y="4386042"/>
            <a:ext cx="3450000" cy="520000"/>
          </a:xfrm>
          <a:prstGeom prst="roundRect">
            <a:avLst>
              <a:gd name="adj" fmla="val 8000"/>
            </a:avLst>
          </a:prstGeom>
          <a:solidFill>
            <a:srgbClr val="107082"/>
          </a:solidFill>
          <a:ln w="12700">
            <a:solidFill>
              <a:srgbClr val="10708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Cost Agent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Expected range · Risk score</a:t>
            </a:r>
          </a:p>
        </p:txBody>
      </p:sp>
      <p:sp>
        <p:nvSpPr>
          <p:cNvPr id="117" name="FraudAgent"/>
          <p:cNvSpPr/>
          <p:nvPr/>
        </p:nvSpPr>
        <p:spPr>
          <a:xfrm>
            <a:off x="4371000" y="4370000"/>
            <a:ext cx="3450000" cy="520000"/>
          </a:xfrm>
          <a:prstGeom prst="roundRect">
            <a:avLst>
              <a:gd name="adj" fmla="val 8000"/>
            </a:avLst>
          </a:prstGeom>
          <a:solidFill>
            <a:srgbClr val="107082"/>
          </a:solidFill>
          <a:ln w="12700">
            <a:solidFill>
              <a:srgbClr val="10708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Fraud Agent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Indicators · Red flags</a:t>
            </a:r>
          </a:p>
        </p:txBody>
      </p:sp>
      <p:sp>
        <p:nvSpPr>
          <p:cNvPr id="118" name="CodingAgent"/>
          <p:cNvSpPr/>
          <p:nvPr/>
        </p:nvSpPr>
        <p:spPr>
          <a:xfrm>
            <a:off x="8056200" y="4370000"/>
            <a:ext cx="3450000" cy="520000"/>
          </a:xfrm>
          <a:prstGeom prst="roundRect">
            <a:avLst>
              <a:gd name="adj" fmla="val 8000"/>
            </a:avLst>
          </a:prstGeom>
          <a:solidFill>
            <a:srgbClr val="107082"/>
          </a:solidFill>
          <a:ln w="12700">
            <a:solidFill>
              <a:srgbClr val="10708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Coding Agent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Code match · Accuracy score</a:t>
            </a:r>
          </a:p>
        </p:txBody>
      </p:sp>
      <p:cxnSp>
        <p:nvCxnSpPr>
          <p:cNvPr id="119" name="l4"/>
          <p:cNvCxnSpPr/>
          <p:nvPr/>
        </p:nvCxnSpPr>
        <p:spPr>
          <a:xfrm flipH="1">
            <a:off x="2410800" y="4120000"/>
            <a:ext cx="804200" cy="25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cxnSp>
        <p:nvCxnSpPr>
          <p:cNvPr id="120" name="l5"/>
          <p:cNvCxnSpPr/>
          <p:nvPr/>
        </p:nvCxnSpPr>
        <p:spPr>
          <a:xfrm>
            <a:off x="3215000" y="4120000"/>
            <a:ext cx="2881000" cy="25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cxnSp>
        <p:nvCxnSpPr>
          <p:cNvPr id="121" name="l6"/>
          <p:cNvCxnSpPr/>
          <p:nvPr/>
        </p:nvCxnSpPr>
        <p:spPr>
          <a:xfrm>
            <a:off x="3215000" y="4120000"/>
            <a:ext cx="6566200" cy="25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sp>
        <p:nvSpPr>
          <p:cNvPr id="122" name="Decision"/>
          <p:cNvSpPr/>
          <p:nvPr/>
        </p:nvSpPr>
        <p:spPr>
          <a:xfrm>
            <a:off x="4396000" y="5120000"/>
            <a:ext cx="3400000" cy="420000"/>
          </a:xfrm>
          <a:prstGeom prst="roundRect">
            <a:avLst>
              <a:gd name="adj" fmla="val 8000"/>
            </a:avLst>
          </a:prstGeom>
          <a:solidFill>
            <a:srgbClr val="F99927"/>
          </a:solidFill>
          <a:ln w="12700">
            <a:solidFill>
              <a:srgbClr val="EC7216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292E"/>
                </a:solidFill>
              </a:rPr>
              <a:t>Decision Agent</a:t>
            </a:r>
          </a:p>
        </p:txBody>
      </p:sp>
      <p:cxnSp>
        <p:nvCxnSpPr>
          <p:cNvPr id="123" name="l7"/>
          <p:cNvCxnSpPr/>
          <p:nvPr/>
        </p:nvCxnSpPr>
        <p:spPr>
          <a:xfrm>
            <a:off x="2410800" y="4890000"/>
            <a:ext cx="3685200" cy="23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cxnSp>
        <p:nvCxnSpPr>
          <p:cNvPr id="124" name="l8"/>
          <p:cNvCxnSpPr/>
          <p:nvPr/>
        </p:nvCxnSpPr>
        <p:spPr>
          <a:xfrm>
            <a:off x="6096000" y="4890000"/>
            <a:ext cx="1" cy="23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cxnSp>
        <p:nvCxnSpPr>
          <p:cNvPr id="125" name="l9"/>
          <p:cNvCxnSpPr/>
          <p:nvPr/>
        </p:nvCxnSpPr>
        <p:spPr>
          <a:xfrm flipH="1">
            <a:off x="6096000" y="4890000"/>
            <a:ext cx="3685200" cy="23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sp>
        <p:nvSpPr>
          <p:cNvPr id="126" name="b5"/>
          <p:cNvSpPr/>
          <p:nvPr/>
        </p:nvSpPr>
        <p:spPr>
          <a:xfrm>
            <a:off x="2436000" y="5865000"/>
            <a:ext cx="280000" cy="2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00292E"/>
                </a:solidFill>
              </a:rPr>
              <a:t>5</a:t>
            </a:r>
          </a:p>
        </p:txBody>
      </p:sp>
      <p:sp>
        <p:nvSpPr>
          <p:cNvPr id="127" name="HITL"/>
          <p:cNvSpPr/>
          <p:nvPr/>
        </p:nvSpPr>
        <p:spPr>
          <a:xfrm>
            <a:off x="2696000" y="5770000"/>
            <a:ext cx="6800000" cy="480000"/>
          </a:xfrm>
          <a:prstGeom prst="roundRect">
            <a:avLst>
              <a:gd name="adj" fmla="val 8000"/>
            </a:avLst>
          </a:prstGeom>
          <a:solidFill>
            <a:srgbClr val="054854"/>
          </a:solidFill>
          <a:ln w="12700">
            <a:solidFill>
              <a:srgbClr val="10708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Explainability &amp; Human-in-the-Loop Interface</a:t>
            </a:r>
          </a:p>
          <a:p>
            <a:pPr algn="ctr"/>
            <a:r>
              <a:rPr lang="en-US" sz="900" b="0" dirty="0">
                <a:solidFill>
                  <a:srgbClr val="C7DEE2"/>
                </a:solidFill>
              </a:rPr>
              <a:t>Enterprise Clinical Portal</a:t>
            </a:r>
          </a:p>
        </p:txBody>
      </p:sp>
      <p:cxnSp>
        <p:nvCxnSpPr>
          <p:cNvPr id="128" name="l10"/>
          <p:cNvCxnSpPr/>
          <p:nvPr/>
        </p:nvCxnSpPr>
        <p:spPr>
          <a:xfrm>
            <a:off x="6096000" y="5540000"/>
            <a:ext cx="1" cy="23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sp>
        <p:nvSpPr>
          <p:cNvPr id="129" name="AutoApprove"/>
          <p:cNvSpPr/>
          <p:nvPr/>
        </p:nvSpPr>
        <p:spPr>
          <a:xfrm>
            <a:off x="1400000" y="6490000"/>
            <a:ext cx="3900000" cy="400000"/>
          </a:xfrm>
          <a:prstGeom prst="roundRect">
            <a:avLst>
              <a:gd name="adj" fmla="val 8000"/>
            </a:avLst>
          </a:prstGeom>
          <a:solidFill>
            <a:srgbClr val="F0CDA1"/>
          </a:solidFill>
          <a:ln w="12700">
            <a:solidFill>
              <a:srgbClr val="F0CDA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292E"/>
                </a:solidFill>
              </a:rPr>
              <a:t>Auto-Approve Queue</a:t>
            </a:r>
          </a:p>
        </p:txBody>
      </p:sp>
      <p:sp>
        <p:nvSpPr>
          <p:cNvPr id="130" name="ReviewReject"/>
          <p:cNvSpPr/>
          <p:nvPr/>
        </p:nvSpPr>
        <p:spPr>
          <a:xfrm>
            <a:off x="6750000" y="6490000"/>
            <a:ext cx="3900000" cy="400000"/>
          </a:xfrm>
          <a:prstGeom prst="roundRect">
            <a:avLst>
              <a:gd name="adj" fmla="val 8000"/>
            </a:avLst>
          </a:prstGeom>
          <a:solidFill>
            <a:srgbClr val="F0CDA1"/>
          </a:solidFill>
          <a:ln w="12700">
            <a:solidFill>
              <a:srgbClr val="F0CDA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292E"/>
                </a:solidFill>
              </a:rPr>
              <a:t>Review / Reject Queue</a:t>
            </a:r>
          </a:p>
        </p:txBody>
      </p:sp>
      <p:cxnSp>
        <p:nvCxnSpPr>
          <p:cNvPr id="131" name="l11"/>
          <p:cNvCxnSpPr/>
          <p:nvPr/>
        </p:nvCxnSpPr>
        <p:spPr>
          <a:xfrm flipH="1">
            <a:off x="3350000" y="6250000"/>
            <a:ext cx="1946000" cy="24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cxnSp>
        <p:nvCxnSpPr>
          <p:cNvPr id="132" name="l12"/>
          <p:cNvCxnSpPr/>
          <p:nvPr/>
        </p:nvCxnSpPr>
        <p:spPr>
          <a:xfrm>
            <a:off x="6896000" y="6250000"/>
            <a:ext cx="1804000" cy="24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sp>
        <p:nvSpPr>
          <p:cNvPr id="133" name="AutoPay"/>
          <p:cNvSpPr/>
          <p:nvPr/>
        </p:nvSpPr>
        <p:spPr>
          <a:xfrm>
            <a:off x="1400000" y="7090000"/>
            <a:ext cx="3900000" cy="400000"/>
          </a:xfrm>
          <a:prstGeom prst="roundRect">
            <a:avLst>
              <a:gd name="adj" fmla="val 8000"/>
            </a:avLst>
          </a:prstGeom>
          <a:solidFill>
            <a:srgbClr val="64B2C1"/>
          </a:solidFill>
          <a:ln w="12700">
            <a:solidFill>
              <a:srgbClr val="64B2C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292E"/>
                </a:solidFill>
              </a:rPr>
              <a:t>Auto-Payment Gateway</a:t>
            </a:r>
          </a:p>
        </p:txBody>
      </p:sp>
      <p:sp>
        <p:nvSpPr>
          <p:cNvPr id="134" name="AuditorDash"/>
          <p:cNvSpPr/>
          <p:nvPr/>
        </p:nvSpPr>
        <p:spPr>
          <a:xfrm>
            <a:off x="6750000" y="7090000"/>
            <a:ext cx="3900000" cy="400000"/>
          </a:xfrm>
          <a:prstGeom prst="roundRect">
            <a:avLst>
              <a:gd name="adj" fmla="val 8000"/>
            </a:avLst>
          </a:prstGeom>
          <a:solidFill>
            <a:srgbClr val="64B2C1"/>
          </a:solidFill>
          <a:ln w="12700">
            <a:solidFill>
              <a:srgbClr val="64B2C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292E"/>
                </a:solidFill>
              </a:rPr>
              <a:t>Clinical Auditor Dashboard</a:t>
            </a:r>
          </a:p>
        </p:txBody>
      </p:sp>
      <p:cxnSp>
        <p:nvCxnSpPr>
          <p:cNvPr id="135" name="l13"/>
          <p:cNvCxnSpPr/>
          <p:nvPr/>
        </p:nvCxnSpPr>
        <p:spPr>
          <a:xfrm>
            <a:off x="3350000" y="6890000"/>
            <a:ext cx="1" cy="20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  <p:cxnSp>
        <p:nvCxnSpPr>
          <p:cNvPr id="136" name="l14"/>
          <p:cNvCxnSpPr/>
          <p:nvPr/>
        </p:nvCxnSpPr>
        <p:spPr>
          <a:xfrm>
            <a:off x="8700000" y="6890000"/>
            <a:ext cx="1" cy="200000"/>
          </a:xfrm>
          <a:prstGeom prst="line">
            <a:avLst/>
          </a:prstGeom>
          <a:ln w="19050">
            <a:solidFill>
              <a:srgbClr val="8FC1CC"/>
            </a:solidFill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1123242-1802-4890-85C8-48524FEB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Strategic Investment Options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32E52-1B70-4F84-B381-E9D987150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7" name="Text Placeholder 16aaa">
            <a:extLst>
              <a:ext uri="{FF2B5EF4-FFF2-40B4-BE49-F238E27FC236}">
                <a16:creationId xmlns:a16="http://schemas.microsoft.com/office/drawing/2014/main" id="{7ED86B65-490B-4A46-9A35-518F30651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863" y="3857676"/>
            <a:ext cx="3276000" cy="2238815"/>
          </a:xfrm>
        </p:spPr>
        <p:txBody>
          <a:bodyPr/>
          <a:lstStyle/>
          <a:p>
            <a:r>
              <a:rPr lang="en-US" sz="1600" dirty="0"/>
              <a:t>Centralize versioned feature sets and model lifecycle management across all TPO domains. Reduces per-model dev cost ~60%.</a:t>
            </a:r>
          </a:p>
          <a:p>
            <a:r>
              <a:rPr lang="en-US" sz="1600" b="1" dirty="0"/>
              <a:t>Timeline: Months 1–24</a:t>
            </a:r>
          </a:p>
          <a:p>
            <a:r>
              <a:rPr lang="en-US" sz="1600" b="1" dirty="0"/>
              <a:t>Model: Enabling infrastructure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0CBFD8E-64DF-4423-A5AD-A669424819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2863" y="2879886"/>
            <a:ext cx="3276000" cy="549114"/>
          </a:xfrm>
        </p:spPr>
        <p:txBody>
          <a:bodyPr/>
          <a:lstStyle/>
          <a:p>
            <a:r>
              <a:rPr lang="en-US" dirty="0"/>
              <a:t>Option A: Clinical AI Feature Store &amp; Model Registry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546E0D8-3EE8-4FA5-9941-005B12026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432" y="3857676"/>
            <a:ext cx="3276000" cy="2238815"/>
          </a:xfrm>
        </p:spPr>
        <p:txBody>
          <a:bodyPr/>
          <a:lstStyle/>
          <a:p>
            <a:r>
              <a:rPr lang="en-US" sz="1600" dirty="0"/>
              <a:t>Multi-agent FHIR-native claims review with CoT denial reasoning, real-time anomaly scoring, and CMS-compliant audit logs.</a:t>
            </a:r>
          </a:p>
          <a:p>
            <a:r>
              <a:rPr lang="en-US" sz="1600" b="1" dirty="0"/>
              <a:t>Timeline: Months 6–30</a:t>
            </a:r>
          </a:p>
          <a:p>
            <a:r>
              <a:rPr lang="en-US" sz="1600" b="1" dirty="0"/>
              <a:t>Model: Transaction fees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D2E6CBE-74EE-4EC6-97D7-36D6F95ED2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45432" y="2696377"/>
            <a:ext cx="3276000" cy="732624"/>
          </a:xfrm>
        </p:spPr>
        <p:txBody>
          <a:bodyPr/>
          <a:lstStyle/>
          <a:p>
            <a:r>
              <a:rPr lang="en-US" dirty="0"/>
              <a:t>Option B: Agentic Chain-Reasoning Claims Adjudication (SaaS)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39944D4-2F2D-438D-93AE-CFC498C791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8000" y="3857676"/>
            <a:ext cx="3276000" cy="2238815"/>
          </a:xfrm>
        </p:spPr>
        <p:txBody>
          <a:bodyPr/>
          <a:lstStyle/>
          <a:p>
            <a:r>
              <a:rPr lang="en-US" sz="1600" dirty="0"/>
              <a:t>Cross-payer fraud intelligence network — industry-wide anomaly benchmarks no single payer can produce alone.</a:t>
            </a:r>
          </a:p>
          <a:p>
            <a:r>
              <a:rPr lang="en-US" sz="1600" b="1" dirty="0"/>
              <a:t>Timeline: Years 2–5</a:t>
            </a:r>
          </a:p>
          <a:p>
            <a:r>
              <a:rPr lang="en-US" sz="1600" b="1" dirty="0"/>
              <a:t>Model: Subscription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0937D34-C77C-4A01-8453-A119A44FEA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8000" y="2696376"/>
            <a:ext cx="3276000" cy="732624"/>
          </a:xfrm>
        </p:spPr>
        <p:txBody>
          <a:bodyPr/>
          <a:lstStyle/>
          <a:p>
            <a:r>
              <a:rPr lang="en-US" dirty="0"/>
              <a:t>Option C: Federated Anomaly Detection Network</a:t>
            </a:r>
          </a:p>
        </p:txBody>
      </p:sp>
      <p:pic>
        <p:nvPicPr>
          <p:cNvPr id="43" name="Picture Placeholder 42" descr="Stethoscope">
            <a:extLst>
              <a:ext uri="{FF2B5EF4-FFF2-40B4-BE49-F238E27FC236}">
                <a16:creationId xmlns:a16="http://schemas.microsoft.com/office/drawing/2014/main" id="{0FBA55E0-FE96-4C72-9699-C2E4A4D64309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2065071" y="2008906"/>
            <a:ext cx="511585" cy="511585"/>
          </a:xfrm>
        </p:spPr>
      </p:pic>
      <p:pic>
        <p:nvPicPr>
          <p:cNvPr id="45" name="Picture Placeholder 44" descr="DNA">
            <a:extLst>
              <a:ext uri="{FF2B5EF4-FFF2-40B4-BE49-F238E27FC236}">
                <a16:creationId xmlns:a16="http://schemas.microsoft.com/office/drawing/2014/main" id="{59BC955A-4F46-42BB-AE8B-64B294B4094A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827640" y="1951669"/>
            <a:ext cx="511585" cy="511585"/>
          </a:xfrm>
        </p:spPr>
      </p:pic>
      <p:pic>
        <p:nvPicPr>
          <p:cNvPr id="47" name="Picture Placeholder 46" descr="Heartbeat">
            <a:extLst>
              <a:ext uri="{FF2B5EF4-FFF2-40B4-BE49-F238E27FC236}">
                <a16:creationId xmlns:a16="http://schemas.microsoft.com/office/drawing/2014/main" id="{CF3CF4DD-4D31-4118-BEC8-48E0CFB07422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590208" y="2008906"/>
            <a:ext cx="511585" cy="511585"/>
          </a:xfrm>
        </p:spPr>
      </p:pic>
      <p:sp>
        <p:nvSpPr>
          <p:cNvPr id="30" name="object 7" descr="Beige rectangle">
            <a:extLst>
              <a:ext uri="{FF2B5EF4-FFF2-40B4-BE49-F238E27FC236}">
                <a16:creationId xmlns:a16="http://schemas.microsoft.com/office/drawing/2014/main" id="{1E04C292-AE6A-4666-9EA6-9D87F84CB793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EE06CE-237F-44E6-BF7E-72B27BB6A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88395" y="1647428"/>
            <a:ext cx="1177348" cy="992451"/>
            <a:chOff x="9164878" y="1733550"/>
            <a:chExt cx="1177348" cy="99245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183E070-F2AC-4FAC-84B2-3622CF37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49775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35680A2-0542-4B12-830D-8B2A95324F4C}"/>
                </a:ext>
              </a:extLst>
            </p:cNvPr>
            <p:cNvSpPr/>
            <p:nvPr/>
          </p:nvSpPr>
          <p:spPr>
            <a:xfrm>
              <a:off x="9164878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C6003A3-849D-4BA1-BF85-B6F50F872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24638" y="1733550"/>
            <a:ext cx="1192959" cy="992451"/>
            <a:chOff x="1824638" y="1733550"/>
            <a:chExt cx="1192959" cy="99245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65C63E4-7456-4EA3-AB9B-0BC0EEF50323}"/>
                </a:ext>
              </a:extLst>
            </p:cNvPr>
            <p:cNvSpPr/>
            <p:nvPr/>
          </p:nvSpPr>
          <p:spPr>
            <a:xfrm>
              <a:off x="1824638" y="1733550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E3F9864-B075-4CC7-B167-7CE1FB0314D7}"/>
                </a:ext>
              </a:extLst>
            </p:cNvPr>
            <p:cNvSpPr/>
            <p:nvPr/>
          </p:nvSpPr>
          <p:spPr>
            <a:xfrm>
              <a:off x="1925901" y="1819672"/>
              <a:ext cx="1091696" cy="820207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C26C130-0A78-4033-83C0-068066B19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02309" y="1495510"/>
            <a:ext cx="1200866" cy="1200866"/>
            <a:chOff x="5482999" y="1607028"/>
            <a:chExt cx="1200866" cy="12008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7FF1BC4-6B01-43E0-9719-53942A96A464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9E8DB26-A207-4225-BABF-5E16AD0A8A72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00" name="RecommendationBanner"/>
          <p:cNvSpPr/>
          <p:nvPr/>
        </p:nvSpPr>
        <p:spPr>
          <a:xfrm>
            <a:off x="682863" y="6280000"/>
            <a:ext cx="10801137" cy="440000"/>
          </a:xfrm>
          <a:prstGeom prst="roundRect">
            <a:avLst>
              <a:gd name="adj" fmla="val 12000"/>
            </a:avLst>
          </a:prstGeom>
          <a:solidFill>
            <a:srgbClr val="F99927"/>
          </a:solidFill>
          <a:ln>
            <a:noFill/>
          </a:ln>
        </p:spPr>
        <p:txBody>
          <a:bodyPr wrap="square" lIns="182880" tIns="27432" rIns="182880" bIns="27432" anchor="ctr">
            <a:normAutofit/>
          </a:bodyPr>
          <a:lstStyle/>
          <a:p>
            <a:r>
              <a:rPr lang="en-US" sz="1100" b="1" dirty="0">
                <a:solidFill>
                  <a:srgbClr val="00292E"/>
                </a:solidFill>
              </a:rPr>
              <a:t>Recommendation: Launch Option A immediately as foundational infrastructure. Begin Option B in parallel targeting 2027 production. Initiate Option C business development in FY2026.</a:t>
            </a:r>
          </a:p>
        </p:txBody>
      </p:sp>
    </p:spTree>
    <p:extLst>
      <p:ext uri="{BB962C8B-B14F-4D97-AF65-F5344CB8AC3E}">
        <p14:creationId xmlns:p14="http://schemas.microsoft.com/office/powerpoint/2010/main" val="129971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65760"/>
            <a:ext cx="10820400" cy="600000"/>
          </a:xfrm>
        </p:spPr>
        <p:txBody>
          <a:bodyPr wrap="square" lIns="0" tIns="0" rIns="0" bIns="0"/>
          <a:lstStyle/>
          <a:p>
            <a:r>
              <a:rPr lang="en-US" sz="3200" b="1" dirty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10" name="TK10bg"/>
          <p:cNvSpPr/>
          <p:nvPr/>
        </p:nvSpPr>
        <p:spPr>
          <a:xfrm>
            <a:off x="386000" y="1200000"/>
            <a:ext cx="5550000" cy="2100000"/>
          </a:xfrm>
          <a:prstGeom prst="roundRect">
            <a:avLst>
              <a:gd name="adj" fmla="val 3500"/>
            </a:avLst>
          </a:prstGeom>
          <a:solidFill>
            <a:srgbClr val="0B3A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K10num"/>
          <p:cNvSpPr/>
          <p:nvPr/>
        </p:nvSpPr>
        <p:spPr>
          <a:xfrm>
            <a:off x="660320" y="1428600"/>
            <a:ext cx="480000" cy="4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00292E"/>
                </a:solidFill>
              </a:rPr>
              <a:t>1</a:t>
            </a:r>
          </a:p>
        </p:txBody>
      </p:sp>
      <p:sp>
        <p:nvSpPr>
          <p:cNvPr id="12" name="TK10txt"/>
          <p:cNvSpPr/>
          <p:nvPr/>
        </p:nvSpPr>
        <p:spPr>
          <a:xfrm>
            <a:off x="660320" y="2048600"/>
            <a:ext cx="5001360" cy="102280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Agentic AI is production-ready</a:t>
            </a:r>
          </a:p>
          <a:p>
            <a:r>
              <a:rPr lang="en-US" sz="1600" dirty="0">
                <a:solidFill>
                  <a:srgbClr val="AFC9CD"/>
                </a:solidFill>
              </a:rPr>
              <a:t>Our POC proves a four-agent claims pipeline delivers accurate, auditable decisions in seconds—not days.</a:t>
            </a:r>
          </a:p>
        </p:txBody>
      </p:sp>
      <p:sp>
        <p:nvSpPr>
          <p:cNvPr id="20" name="TK20bg"/>
          <p:cNvSpPr/>
          <p:nvPr/>
        </p:nvSpPr>
        <p:spPr>
          <a:xfrm>
            <a:off x="6256000" y="1200000"/>
            <a:ext cx="5550000" cy="2100000"/>
          </a:xfrm>
          <a:prstGeom prst="roundRect">
            <a:avLst>
              <a:gd name="adj" fmla="val 3500"/>
            </a:avLst>
          </a:prstGeom>
          <a:solidFill>
            <a:srgbClr val="0B3A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K20num"/>
          <p:cNvSpPr/>
          <p:nvPr/>
        </p:nvSpPr>
        <p:spPr>
          <a:xfrm>
            <a:off x="6530320" y="1428600"/>
            <a:ext cx="480000" cy="4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00292E"/>
                </a:solidFill>
              </a:rPr>
              <a:t>2</a:t>
            </a:r>
          </a:p>
        </p:txBody>
      </p:sp>
      <p:sp>
        <p:nvSpPr>
          <p:cNvPr id="22" name="TK20txt"/>
          <p:cNvSpPr/>
          <p:nvPr/>
        </p:nvSpPr>
        <p:spPr>
          <a:xfrm>
            <a:off x="6530320" y="2048600"/>
            <a:ext cx="5001360" cy="102280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TPO coverage is the differentiator</a:t>
            </a:r>
          </a:p>
          <a:p>
            <a:r>
              <a:rPr lang="en-US" sz="1600" dirty="0">
                <a:solidFill>
                  <a:srgbClr val="AFC9CD"/>
                </a:solidFill>
              </a:rPr>
              <a:t>Cotiviti’s cross-domain data spans Treatment, Payment, and Operations in a way no single-domain competitor can replicate.</a:t>
            </a:r>
          </a:p>
        </p:txBody>
      </p:sp>
      <p:sp>
        <p:nvSpPr>
          <p:cNvPr id="30" name="TK30bg"/>
          <p:cNvSpPr/>
          <p:nvPr/>
        </p:nvSpPr>
        <p:spPr>
          <a:xfrm>
            <a:off x="386000" y="3600000"/>
            <a:ext cx="5550000" cy="2100000"/>
          </a:xfrm>
          <a:prstGeom prst="roundRect">
            <a:avLst>
              <a:gd name="adj" fmla="val 3500"/>
            </a:avLst>
          </a:prstGeom>
          <a:solidFill>
            <a:srgbClr val="0B3A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K30num"/>
          <p:cNvSpPr/>
          <p:nvPr/>
        </p:nvSpPr>
        <p:spPr>
          <a:xfrm>
            <a:off x="660320" y="3828600"/>
            <a:ext cx="480000" cy="4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00292E"/>
                </a:solidFill>
              </a:rPr>
              <a:t>3</a:t>
            </a:r>
          </a:p>
        </p:txBody>
      </p:sp>
      <p:sp>
        <p:nvSpPr>
          <p:cNvPr id="32" name="TK30txt"/>
          <p:cNvSpPr/>
          <p:nvPr/>
        </p:nvSpPr>
        <p:spPr>
          <a:xfrm>
            <a:off x="660320" y="4448600"/>
            <a:ext cx="5001360" cy="102280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Governance is a product, not overhead</a:t>
            </a:r>
          </a:p>
          <a:p>
            <a:r>
              <a:rPr lang="en-US" sz="1600" dirty="0">
                <a:solidFill>
                  <a:srgbClr val="AFC9CD"/>
                </a:solidFill>
              </a:rPr>
              <a:t>CMS and EU AI Act mandates make audit trails, bias flags, and human override a billable feature, not a compliance tax.</a:t>
            </a:r>
          </a:p>
        </p:txBody>
      </p:sp>
      <p:sp>
        <p:nvSpPr>
          <p:cNvPr id="40" name="TK40bg"/>
          <p:cNvSpPr/>
          <p:nvPr/>
        </p:nvSpPr>
        <p:spPr>
          <a:xfrm>
            <a:off x="6256000" y="3600000"/>
            <a:ext cx="5550000" cy="2100000"/>
          </a:xfrm>
          <a:prstGeom prst="roundRect">
            <a:avLst>
              <a:gd name="adj" fmla="val 3500"/>
            </a:avLst>
          </a:prstGeom>
          <a:solidFill>
            <a:srgbClr val="0B3A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K40num"/>
          <p:cNvSpPr/>
          <p:nvPr/>
        </p:nvSpPr>
        <p:spPr>
          <a:xfrm>
            <a:off x="6530320" y="3828600"/>
            <a:ext cx="480000" cy="480000"/>
          </a:xfrm>
          <a:prstGeom prst="ellipse">
            <a:avLst/>
          </a:prstGeom>
          <a:solidFill>
            <a:srgbClr val="F9992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600" b="1" dirty="0">
                <a:solidFill>
                  <a:srgbClr val="00292E"/>
                </a:solidFill>
              </a:rPr>
              <a:t>4</a:t>
            </a:r>
          </a:p>
        </p:txBody>
      </p:sp>
      <p:sp>
        <p:nvSpPr>
          <p:cNvPr id="42" name="TK40txt"/>
          <p:cNvSpPr/>
          <p:nvPr/>
        </p:nvSpPr>
        <p:spPr>
          <a:xfrm>
            <a:off x="6530320" y="4448600"/>
            <a:ext cx="5001360" cy="102280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Act now on infrastructure</a:t>
            </a:r>
          </a:p>
          <a:p>
            <a:r>
              <a:rPr lang="en-US" sz="1600" dirty="0">
                <a:solidFill>
                  <a:srgbClr val="AFC9CD"/>
                </a:solidFill>
              </a:rPr>
              <a:t>Option A (Feature Store + Model Registry) is the foundational investment that makes Options B and C viable at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272D7C-9F13-732F-7FA5-8E25D5450E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Kicker">
            <a:extLst>
              <a:ext uri="{FF2B5EF4-FFF2-40B4-BE49-F238E27FC236}">
                <a16:creationId xmlns:a16="http://schemas.microsoft.com/office/drawing/2014/main" id="{613A8762-E56F-3A5F-F360-D86C3D4981EE}"/>
              </a:ext>
            </a:extLst>
          </p:cNvPr>
          <p:cNvSpPr/>
          <p:nvPr/>
        </p:nvSpPr>
        <p:spPr>
          <a:xfrm>
            <a:off x="685800" y="365760"/>
            <a:ext cx="800000" cy="365760"/>
          </a:xfrm>
        </p:spPr>
        <p:txBody>
          <a:bodyPr wrap="square" lIns="0" tIns="0" rIns="0" bIns="0"/>
          <a:lstStyle/>
          <a:p>
            <a:r>
              <a:rPr lang="en-US" sz="1400" b="1" dirty="0">
                <a:solidFill>
                  <a:srgbClr val="107082"/>
                </a:solidFill>
              </a:rPr>
              <a:t>06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D80C818-60AE-C4E8-6B2C-882D144FBCA0}"/>
              </a:ext>
            </a:extLst>
          </p:cNvPr>
          <p:cNvSpPr/>
          <p:nvPr/>
        </p:nvSpPr>
        <p:spPr>
          <a:xfrm>
            <a:off x="473528" y="228600"/>
            <a:ext cx="10820400" cy="502920"/>
          </a:xfrm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00292E"/>
                </a:solidFill>
              </a:rPr>
              <a:t>References</a:t>
            </a:r>
          </a:p>
        </p:txBody>
      </p:sp>
      <p:sp>
        <p:nvSpPr>
          <p:cNvPr id="10" name="LeftCol">
            <a:extLst>
              <a:ext uri="{FF2B5EF4-FFF2-40B4-BE49-F238E27FC236}">
                <a16:creationId xmlns:a16="http://schemas.microsoft.com/office/drawing/2014/main" id="{35A9EAD8-E948-99AA-1CE8-4ED0A047E399}"/>
              </a:ext>
            </a:extLst>
          </p:cNvPr>
          <p:cNvSpPr/>
          <p:nvPr/>
        </p:nvSpPr>
        <p:spPr>
          <a:xfrm>
            <a:off x="685799" y="868680"/>
            <a:ext cx="11124201" cy="5911320"/>
          </a:xfrm>
        </p:spPr>
        <p:txBody>
          <a:bodyPr wrap="square" lIns="0" tIns="0" rIns="0" bIns="0" anchor="t"/>
          <a:lstStyle/>
          <a:p>
            <a:pPr marL="228600" indent="-228600">
              <a:spcBef>
                <a:spcPts val="1000"/>
              </a:spcBef>
            </a:pPr>
            <a:r>
              <a:rPr lang="en-US" dirty="0">
                <a:latin typeface="+mj-lt"/>
              </a:rPr>
              <a:t>Cohere Health. (2026, February 27). Agentic AI for health plans: Key Gartner 2026 insights. https://www.coherehealth.com/blog/agentic-ai-health-plans-gartner-2026-insights</a:t>
            </a:r>
          </a:p>
          <a:p>
            <a:pPr marL="228600" indent="-228600">
              <a:spcBef>
                <a:spcPts val="1000"/>
              </a:spcBef>
            </a:pPr>
            <a:r>
              <a:rPr lang="en-US" dirty="0" err="1">
                <a:latin typeface="+mj-lt"/>
              </a:rPr>
              <a:t>ComplyCube</a:t>
            </a:r>
            <a:r>
              <a:rPr lang="en-US" dirty="0">
                <a:latin typeface="+mj-lt"/>
              </a:rPr>
              <a:t>. (2026, February 5). AI-powered health insurance fraud detection. https://www.complycube.com/en/health-insurance-fraud-detection-compliance/</a:t>
            </a:r>
          </a:p>
          <a:p>
            <a:pPr marL="228600" indent="-228600">
              <a:spcBef>
                <a:spcPts val="1000"/>
              </a:spcBef>
            </a:pPr>
            <a:r>
              <a:rPr lang="en-US" dirty="0">
                <a:latin typeface="+mj-lt"/>
              </a:rPr>
              <a:t>Deloitte. (2026, April 16). Many health care leaders are leaning into agentic AI as adoption hurdles ease. Deloitte Insights. https://www.deloitte.com/us/en/insights/industry/health-care/agentic-ai-health-care-operating-model-change.html</a:t>
            </a:r>
          </a:p>
          <a:p>
            <a:pPr marL="228600" indent="-228600">
              <a:spcBef>
                <a:spcPts val="1000"/>
              </a:spcBef>
            </a:pPr>
            <a:r>
              <a:rPr lang="en-US" dirty="0">
                <a:latin typeface="+mj-lt"/>
              </a:rPr>
              <a:t>H2O.ai. (2025). AI fraud detection for medical claims. https://h2o.ai/solutions/use-case/claims-fraud-detection/</a:t>
            </a:r>
          </a:p>
          <a:p>
            <a:pPr marL="228600" indent="-228600">
              <a:spcBef>
                <a:spcPts val="1000"/>
              </a:spcBef>
            </a:pPr>
            <a:r>
              <a:rPr lang="en-US" dirty="0">
                <a:latin typeface="+mj-lt"/>
              </a:rPr>
              <a:t>Insurance Thought Leadership. (2025, July 7). AI tools that detect healthcare provider fraud. </a:t>
            </a:r>
            <a:r>
              <a:rPr lang="en-US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https://www.insurancethoughtleadership.com/life-health/ai-tools-detect-healthcare-provider-fraud</a:t>
            </a:r>
            <a:endParaRPr lang="en-US" dirty="0">
              <a:latin typeface="+mj-lt"/>
            </a:endParaRPr>
          </a:p>
          <a:p>
            <a:pPr marL="228600" indent="-228600">
              <a:spcBef>
                <a:spcPts val="1000"/>
              </a:spcBef>
            </a:pPr>
            <a:r>
              <a:rPr lang="en-US" dirty="0" err="1">
                <a:latin typeface="+mj-lt"/>
              </a:rPr>
              <a:t>Mobisoft</a:t>
            </a:r>
            <a:r>
              <a:rPr lang="en-US" dirty="0">
                <a:latin typeface="+mj-lt"/>
              </a:rPr>
              <a:t> Infotech. (2026, May 8). AI in health insurance: Claims automation and fraud detection. https://mobisoftinfotech.com/resources/blog/ai-health-insurance-claims-automation-fraud-detection</a:t>
            </a:r>
          </a:p>
          <a:p>
            <a:pPr marL="228600" indent="-228600">
              <a:spcBef>
                <a:spcPts val="1000"/>
              </a:spcBef>
            </a:pPr>
            <a:r>
              <a:rPr lang="en-US" dirty="0">
                <a:latin typeface="+mj-lt"/>
              </a:rPr>
              <a:t>Perspective AI. (2026, May 1). AI insurance fraud detection in 2026: From pattern anomalies to conversational red flags. https://getperspective.ai/blog/ai-insurance-fraud-detection-in-2026-from-pattern-anomalies-to-conversational-red-flags</a:t>
            </a:r>
          </a:p>
          <a:p>
            <a:pPr marL="228600" indent="-228600">
              <a:spcBef>
                <a:spcPts val="1000"/>
              </a:spcBef>
            </a:pPr>
            <a:r>
              <a:rPr lang="en-US" dirty="0">
                <a:latin typeface="+mj-lt"/>
              </a:rPr>
              <a:t>Philips. (2026, April 30). Emerging healthcare AI trends in 2026 so far. https://www.philips.com/a-w/about/news/archive/features/2026/this-years-emerging-trends-in-healthcare-ai-so-far.html</a:t>
            </a:r>
          </a:p>
          <a:p>
            <a:pPr marL="228600" indent="-228600">
              <a:spcBef>
                <a:spcPts val="1000"/>
              </a:spcBef>
            </a:pPr>
            <a:r>
              <a:rPr lang="en-US" dirty="0">
                <a:latin typeface="+mj-lt"/>
              </a:rPr>
              <a:t>Srinivasu, P. N., Aruna Kumari, J., Ahmed, S., &amp; Alhumam, A. (2026). Exploring agentic AI in healthcare: A study on its working mechanism. Frontiers in Digital Health. https://pmc.ncbi.nlm.nih.gov/articles/PMC12890637/</a:t>
            </a:r>
          </a:p>
          <a:p>
            <a:pPr marL="228600" indent="-228600">
              <a:spcBef>
                <a:spcPts val="1000"/>
              </a:spcBef>
            </a:pP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320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58B441-F629-62EB-3A50-9D30BC1A4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49296E-543A-76E6-8E11-3B428E314C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8713" y="4508500"/>
            <a:ext cx="4065815" cy="1026886"/>
          </a:xfrm>
        </p:spPr>
        <p:txBody>
          <a:bodyPr/>
          <a:lstStyle/>
          <a:p>
            <a:r>
              <a:rPr lang="en-US" sz="3600" dirty="0"/>
              <a:t>Sabna Pillai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F9B07-9DC2-B3B4-08A0-EE4539444D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22125" y="6242050"/>
            <a:ext cx="269875" cy="269875"/>
          </a:xfrm>
        </p:spPr>
        <p:txBody>
          <a:bodyPr/>
          <a:lstStyle/>
          <a:p>
            <a:fld id="{EECC7194-A4D0-457B-9D3E-53681723AFF7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19271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TotalTime>5601</TotalTime>
  <Words>1354</Words>
  <Application>Microsoft Office PowerPoint</Application>
  <PresentationFormat>Widescreen</PresentationFormat>
  <Paragraphs>235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</vt:lpstr>
      <vt:lpstr>Calibri</vt:lpstr>
      <vt:lpstr>Courier New</vt:lpstr>
      <vt:lpstr>Gill Sans MT</vt:lpstr>
      <vt:lpstr>Office Theme</vt:lpstr>
      <vt:lpstr>Clinical Decision Making &amp; Pattern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POC: Multi-Agent Claims Review System </vt:lpstr>
      <vt:lpstr>PowerPoint Presentation</vt:lpstr>
      <vt:lpstr>POC: Enterprise Claims Processing Architecture</vt:lpstr>
      <vt:lpstr>Three Strategic Investment Options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Sabna Pillai</dc:creator>
  <cp:lastModifiedBy>Sabna Pillai</cp:lastModifiedBy>
  <cp:revision>18</cp:revision>
  <dcterms:created xsi:type="dcterms:W3CDTF">2026-07-02T14:01:37Z</dcterms:created>
  <dcterms:modified xsi:type="dcterms:W3CDTF">2026-07-07T20:08:40Z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